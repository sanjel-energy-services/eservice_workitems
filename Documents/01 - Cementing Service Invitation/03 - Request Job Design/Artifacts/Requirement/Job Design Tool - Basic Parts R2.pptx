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8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notesSlides/notesSlide19.xml" ContentType="application/vnd.openxmlformats-officedocument.presentationml.notesSlide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806" r:id="rId5"/>
    <p:sldId id="807" r:id="rId6"/>
    <p:sldId id="808" r:id="rId7"/>
    <p:sldId id="257" r:id="rId8"/>
    <p:sldId id="260" r:id="rId9"/>
    <p:sldId id="269" r:id="rId10"/>
    <p:sldId id="259" r:id="rId11"/>
    <p:sldId id="261" r:id="rId12"/>
    <p:sldId id="268" r:id="rId13"/>
    <p:sldId id="275" r:id="rId14"/>
    <p:sldId id="262" r:id="rId15"/>
    <p:sldId id="271" r:id="rId16"/>
    <p:sldId id="272" r:id="rId17"/>
    <p:sldId id="273" r:id="rId18"/>
    <p:sldId id="274" r:id="rId19"/>
    <p:sldId id="263" r:id="rId20"/>
    <p:sldId id="264" r:id="rId21"/>
    <p:sldId id="276" r:id="rId22"/>
    <p:sldId id="266" r:id="rId23"/>
    <p:sldId id="277" r:id="rId24"/>
    <p:sldId id="267" r:id="rId25"/>
    <p:sldId id="27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89" autoAdjust="0"/>
  </p:normalViewPr>
  <p:slideViewPr>
    <p:cSldViewPr snapToGrid="0">
      <p:cViewPr>
        <p:scale>
          <a:sx n="100" d="100"/>
          <a:sy n="100" d="100"/>
        </p:scale>
        <p:origin x="-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0:53:44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24575,'-1'20'0,"1"1"0,2-1 0,0 0 0,1 0 0,1 0 0,9 29 0,-3-17 0,-2 0 0,-1 0 0,5 62 0,-6 102 0,0-3 0,-4-160-112,15 105-1141,-8-101-5573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0:53:48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1 435 24575,'7'-2'0,"-1"0"0,1 0 0,-1-1 0,1 0 0,-1-1 0,0 1 0,0-1 0,-1 0 0,8-7 0,-6 5 0,33-23 0,-1-3 0,-2-1 0,-1-2 0,59-75 0,-65 54 0,-27 47 0,1 1 0,1-1 0,-1 1 0,1-1 0,0 1 0,1 1 0,0-1 0,0 1 0,8-7 0,-12 13 0,-1 0 0,0 0 0,1 0 0,-1 1 0,0-1 0,1 0 0,-1 1 0,1-1 0,-1 1 0,1 0 0,0-1 0,-1 1 0,1 0 0,-1 0 0,1 0 0,-1 0 0,1 0 0,0 0 0,-1 0 0,1 1 0,-1-1 0,4 2 0,-2-1 0,1 1 0,-1 0 0,0 0 0,0 1 0,1-1 0,-1 1 0,-1-1 0,1 1 0,3 4 0,2 4 0,0 0 0,-1 1 0,0-1 0,6 18 0,39 132 0,-36-104 0,-14-51-97,0-1-1,0 0 1,1 0-1,0 0 1,0-1-1,0 1 1,1-1-1,-1 0 1,1 0-1,0 0 1,0 0-1,1 0 0,5 3 1,5 2-6729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0:54:04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24575,'116'2'0,"129"-5"0,-153-11 0,-59 8 0,51-3 0,-65 7-307,0 0 0,0-2 0,23-6 0,-41 9 170,20-4-6689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0:54:06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24575,'18'2'0,"0"0"0,0 1 0,0 1 0,0 0 0,-1 2 0,1 0 0,-1 1 0,0 0 0,-1 1 0,0 1 0,-1 1 0,1 1 0,-2 0 0,22 20 0,-35-30 0,0-1 0,0 1 0,0 0 0,0 0 0,-1 0 0,1 0 0,0 0 0,0 0 0,-1 0 0,1 0 0,0 0 0,-1 0 0,1 0 0,-1 1 0,0-1 0,1 0 0,-1 0 0,0 0 0,1 1 0,-1-1 0,0 0 0,0 0 0,0 1 0,0-1 0,-1 0 0,1 0 0,0 1 0,0-1 0,-1 0 0,1 0 0,-1 0 0,1 1 0,-1-1 0,1 0 0,-1 0 0,0 0 0,0 0 0,1 0 0,-3 1 0,-4 5 0,0-2 0,-1 1 0,1-1 0,-17 8 0,-10 9 0,16-5-55,1 1 1,0 1-1,2 0 0,-15 24 0,10-14-1036,2-4-5735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0:54:10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24575,'510'0'0,"-493"-2"-264,-1 1 0,0-2-1,0 0 1,19-7 0,-34 10 220,19-5-6782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0:54:12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24575,'4'1'0,"1"1"0,-1 0 0,1 1 0,-1-1 0,0 1 0,0 0 0,0 0 0,0 0 0,0 0 0,-1 1 0,1-1 0,2 5 0,4 2 0,3 5 0,-1-1 0,0 2 0,16 28 0,-7-11 0,44 88 0,-50-89 0,-13-26 0,0 0 0,1 0 0,0 0 0,0-1 0,1 1 0,4 5 0,-8-11 0,1 1 0,-1 0 0,1-1 0,-1 1 0,0 0 0,1-1 0,-1 1 0,0 0 0,1-1 0,-1 1 0,0 0 0,0 0 0,0-1 0,0 1 0,0 0 0,0 0 0,0 0 0,0-1 0,0 1 0,0 0 0,0 0 0,0-1 0,0 1 0,-1 0 0,1 0 0,0-1 0,-1 1 0,1 0 0,0-1 0,-1 1 0,1 0 0,-1-1 0,1 1 0,-1-1 0,1 1 0,-1 0 0,1-1 0,-2 1 0,-34 22 0,17-12 0,-11 9 0,21-14 0,0-1 0,1 1 0,-1 1 0,-12 13 0,18-16 0,0 0 0,0 0 0,1 1 0,-1-1 0,1 1 0,0 0 0,0 0 0,1 0 0,-1-1 0,1 2 0,0-1 0,1 0 0,-1 5 0,1 49 54,1-44-408,0-1-1,-2 0 0,-3 28 0,-2-22-6471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1:12:54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19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19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20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22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23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34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49:3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24575,'6'2'0,"-1"-1"0,1 1 0,-1 1 0,0-1 0,0 1 0,0 0 0,-1 0 0,1 0 0,5 6 0,10 5 0,2-1 0,-1 2 0,0-1 0,0 2 0,25 26 0,45 60 0,-5 4 0,99 158 0,-164-232 0,0-1 0,32 35 0,-40-54 11,1 0-1,1-1 0,19 13 1,2 0-1418,-22-13-5419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49:30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24575,'4'1'0,"-1"0"0,1 0 0,-1 1 0,0-1 0,1 1 0,-1-1 0,0 1 0,0 0 0,4 4 0,13 6 0,27 9 0,-22-11 0,-2 0 0,1 2 0,-2 1 0,0 0 0,27 22 0,-30-19 0,1 0 0,1-2 0,0-1 0,0 0 0,1-1 0,1-2 0,27 10 0,-48-20 0,0 1 0,1 0 0,-1-1 0,0 1 0,0-1 0,0 0 0,0 0 0,0 0 0,1 0 0,-1 0 0,0 0 0,0-1 0,0 1 0,0-1 0,0 1 0,0-1 0,0 0 0,0 0 0,0 1 0,0-2 0,0 1 0,0 0 0,-1 0 0,1-1 0,0 1 0,-1 0 0,1-1 0,-1 0 0,1 1 0,1-4 0,2-6 0,0 1 0,0-1 0,-1 0 0,6-22 0,8-19 0,23-37 0,20-36 0,-46 87-1365,-11 20-5461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0:11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0 543 24575,'4'-5'0,"0"-1"0,0 0 0,-1-1 0,0 1 0,0-1 0,-1 1 0,1-1 0,0-8 0,6-13 0,101-356 0,-108 377 0,-1 4 0,0-1 0,1 1 0,-1 0 0,1 0 0,-1 0 0,1 0 0,0 1 0,0-1 0,1 0 0,-1 1 0,0-1 0,1 1 0,0 0 0,-1 0 0,1 0 0,0 0 0,0 0 0,0 1 0,0-1 0,0 1 0,1 0 0,-1 0 0,0 0 0,0 0 0,1 1 0,6-1 0,11-1 0,1 2 0,-1 0 0,30 4 0,-9-1 0,11 3-1365,-31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0:27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0 24575,'0'34'0,"-1"-1"0,-1 1 0,-11 54 0,6-45 0,2 1 0,2 0 0,1 1 0,6 48 0,-1 10 0,-3 95-1365,0-182-5461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1:4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24575,'45'-15'0,"26"7"0,1 3 0,76 5 0,-23 1 0,305-12 0,312-3 0,-593 13 0,165 4 0,-195 12 0,-44-4 0,-53-8 0,-1 1 0,25 8 0,-120-6 0,-17-7-1365,66 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1:50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24575,'9'0'0,"0"1"0,-1 1 0,1-1 0,-1 1 0,0 1 0,1-1 0,-1 1 0,0 1 0,0 0 0,-1 0 0,9 6 0,11 9 0,38 37 0,-33-28 0,60 49 0,176 163 0,-252-224 0,-3-5 0,-2 1 0,0 0 0,0 1 0,-1 0 0,9 15 0,-18-25 0,1 0 0,0 1 0,-1-1 0,0 0 0,0 1 0,0-1 0,0 1 0,0-1 0,-1 1 0,1-1 0,-1 1 0,0 0 0,0-1 0,-1 1 0,1-1 0,-1 1 0,1-1 0,-1 1 0,0-1 0,-1 1 0,1-1 0,0 0 0,-1 1 0,0-1 0,0 0 0,0 0 0,0 0 0,0-1 0,-4 5 0,-7 2 0,0 0 0,0 0 0,-1-1 0,0-1 0,0 0 0,0-1 0,-1-1 0,-18 5 0,-19 8 0,-235 110-1365,258-114-5461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1:57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24575,'740'63'0,"-459"-29"0,635-3-307,-716-32-751,-180 1-5768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1:58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24575,'10'1'0,"1"0"0,0 0 0,-1 1 0,0 1 0,1 0 0,-1 0 0,10 6 0,71 38 0,-56-28 0,166 104 0,-94-55 0,-104-66 0,0 0 0,0-1 0,0 1 0,0 1 0,0-1 0,0 0 0,-1 1 0,1-1 0,-1 1 0,0 0 0,0 0 0,0 0 0,0 0 0,0 0 0,1 4 0,-3-4 0,1-1 0,-1 1 0,-1 0 0,1-1 0,0 1 0,-1-1 0,1 1 0,-1-1 0,0 1 0,0-1 0,0 1 0,0-1 0,0 0 0,0 0 0,-1 1 0,1-1 0,-1 0 0,1 0 0,-1 0 0,0-1 0,0 1 0,-3 2 0,-35 31 0,-2-2 0,-1-2 0,-52 29 0,-48 33 0,128-81 29,1 2 0,0-1 0,-21 28 0,-9 10-1510,30-38-5345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2:18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 24575,'0'35'0,"1"1"0,-2-1 0,-1 1 0,-12 62 0,9-72 0,1 1 0,0 48 0,3-47 0,0-1 0,-9 43 0,5-39-128,1-1 0,2 1 0,2 45 0,0-51-725,0-3-5973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2:57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0 334 24575,'1'-8'0,"0"0"0,0 0 0,1 0 0,0 0 0,0 0 0,1 0 0,0 1 0,7-14 0,41-60 0,-25 42 0,-19 28 0,0-1 0,1 2 0,0-1 0,1 1 0,0 0 0,1 1 0,16-13 0,-19 18 0,1-1 0,0 1 0,0 0 0,0 1 0,1 0 0,-1 0 0,1 1 0,0 0 0,-1 0 0,1 1 0,0 0 0,10 1 0,-3-1 0,1 1 0,-1 1 0,1 0 0,-1 2 0,1 0 0,-1 0 0,0 2 0,0 0 0,-1 0 0,0 2 0,15 7 0,24 16 0,-1 2 0,83 68 0,-86-51-1365,-36-37-5461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2:27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0 24575,'-1'5'0,"-1"0"0,1 0 0,-1-1 0,0 1 0,0-1 0,0 0 0,-3 5 0,-3 5 0,-10 22 0,1 1 0,1 0 0,3 1 0,1 1 0,2 0 0,-6 42 0,16-77 0,1-1 0,-1 1 0,1-1 0,-1 1 0,1-1 0,0 1 0,0-1 0,1 0 0,-1 1 0,1-1 0,0 0 0,0 0 0,0 0 0,0 0 0,0-1 0,0 1 0,1-1 0,-1 1 0,1-1 0,0 0 0,0 0 0,0 0 0,0 0 0,0 0 0,0-1 0,6 3 0,12 4 0,0 0 0,0-2 0,25 5 0,-31-7 0,141 25 0,191 10 0,-219-27 0,512 22 0,5-36 0,-235-1 0,2358 3 0,-2315-13 0,-8-1 0,100-13 0,-154 3 0,-185 16 0,402-8 0,729 16 0,-1333 0 0,-1-1 0,1 1 0,-1 0 0,1 0 0,-1 0 0,0 1 0,1-1 0,-1 1 0,1 0 0,-1 0 0,0 0 0,0 0 0,0 1 0,1-1 0,-1 1 0,-1-1 0,1 1 0,0 0 0,0 1 0,-1-1 0,1 0 0,-1 1 0,1-1 0,-1 1 0,0 0 0,0 0 0,-1 0 0,1 0 0,0 0 0,-1 0 0,0 0 0,0 0 0,0 1 0,0-1 0,0 0 0,-1 1 0,1-1 0,-1 6 0,3 47 0,-7 92 0,-1-24 0,7-20 0,-4 122 0,2-224 0,-1 1 0,1 0 0,-1-1 0,0 1 0,0 0 0,0-1 0,0 1 0,0-1 0,-1 0 0,1 1 0,0-1 0,-1 0 0,0 0 0,0 0 0,0 0 0,0 0 0,0 0 0,0 0 0,0-1 0,0 1 0,-1-1 0,1 0 0,0 1 0,-1-1 0,0 0 0,1 0 0,-1-1 0,1 1 0,-1-1 0,0 1 0,1-1 0,-1 0 0,0 0 0,0 0 0,-4-1 0,-13 0 0,1-1 0,0-1 0,-37-11 0,40 10 0,-35-11 0,-83-34 0,30 13-1365,86 31-5461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2:29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1 326 24575,'1'-3'0,"0"-1"0,1 0 0,0 1 0,-1-1 0,2 1 0,-1-1 0,0 1 0,0 0 0,1 0 0,0 0 0,4-3 0,7-11 0,22-39 0,-26 38 0,1 0 0,1 1 0,1 0 0,0 1 0,1 0 0,0 1 0,19-14 0,-22 22 0,1 1 0,-1 1 0,2-1 0,17-4 0,13-6 0,-23 9-1365,-2 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4:10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5990 6038 24575,'-2'-35'0,"-2"0"0,-1 0 0,-2 1 0,-12-35 0,5 16 0,-47-158 0,-10 4 0,-121-248 0,114 298 0,-6 4 0,-7 4 0,-189-237 0,226 319 0,-11-17 0,-4 2 0,-150-135 0,47 86 0,-6 8 0,-4 8 0,-354-163 0,52 40 0,10 4 0,-204-81 0,376 148 0,196 104 0,-45-22 0,-308-194 0,390 228 0,-93-91 0,-48-74 0,156 159 0,9 8 0,-56-77 0,82 98 0,2 0 0,0-2 0,2 0 0,-19-57 0,-12-50 0,-58-197 0,91 289 0,6 22 0,1 0 0,1 0 0,-3-36 0,7 47-273,0 0 0,-1 0 0,0 0 0,-8-21 0,6 22-6553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4:14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1 664 24575,'0'-31'0,"-1"-13"0,11-87 0,-7 115 0,0 1 0,1-1 0,1 1 0,1 0 0,0 1 0,1-1 0,0 1 0,1 0 0,11-14 0,111-156 0,-109 150 0,-17 26 0,1 0 0,0 0 0,0 1 0,1 0 0,6-7 0,-9 11 0,1 0 0,-1 1 0,1-1 0,-1 1 0,1 0 0,0 0 0,0 1 0,0-1 0,0 1 0,0 0 0,0 0 0,0 0 0,0 1 0,7-1 0,9 1 0,0 0 0,0 1 0,-1 2 0,1 0 0,0 1 0,31 10 0,112 54 0,-36-13 0,-67-29-199,-2 2-1,62 40 0,-91-50-566,-12-9-6060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5:37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0 24575,'-1'15'0,"0"1"0,-1-1 0,-1 0 0,0 0 0,-1 0 0,-1-1 0,0 1 0,-1-1 0,0 0 0,-1 0 0,-1-1 0,0 0 0,-1-1 0,-20 23 0,-7 24 118,15-23-1601,12-23-5343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5:38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1 24575,'0'4'0,"-4"6"0,-2 6 0,-4-1 0,-4 2 0,-1 3 0,-1-3 0,2 1 0,-1-3 0,2 0 0,-1-2 0,-3 1 0,2 2 0,-1-2 0,2 2 0,0 2 0,1-2-8191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5:39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 0 24575,'-2'5'0,"1"-1"0,-2 1 0,1-1 0,0 0 0,-1 0 0,0 0 0,0 0 0,0 0 0,0 0 0,-1-1 0,1 0 0,-1 0 0,-6 4 0,-3 5 0,-42 33 0,42-35 0,-1 1 0,1 0 0,1 1 0,-16 19 0,-11 7 123,13-15-1611,16-12-5338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5:39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1 24575,'-4'0'0,"-2"4"0,-4 2 0,-4 4 0,-5 4 0,-3 5 0,-2 3 0,-2-3 0,4 1 0,2-3 0,-1-1 0,0-3 0,2 1 0,6 2 0,-1-1 0,4-4-8191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6:20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204 377 24575,'-2'-6'0,"-1"-1"0,1 0 0,-1 1 0,-1-1 0,1 1 0,-1 0 0,0 0 0,-1 1 0,1-1 0,-10-8 0,-1-3 0,-12-20 0,2-1 0,-29-58 0,48 84-273,0-1 0,1 0 0,0-1 0,-5-25 0,7 18-6553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16:56:30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24575,'4'0'0,"6"0"0,6 0 0,4 0 0,3 0 0,2 0 0,1 0 0,0 0 0,1 0 0,-1 0 0,0 0 0,0 0 0,0 0 0,-1 0 0,1 0 0,-1 0 0,0 0 0,-4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0:54:04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24575,'116'2'0,"129"-5"0,-153-11 0,-59 8 0,51-3 0,-65 7-307,0 0 0,0-2 0,23-6 0,-41 9 170,20-4-6689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0:54:06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24575,'18'2'0,"0"0"0,0 1 0,0 1 0,0 0 0,-1 2 0,1 0 0,-1 1 0,0 0 0,-1 1 0,0 1 0,-1 1 0,1 1 0,-2 0 0,22 20 0,-35-30 0,0-1 0,0 1 0,0 0 0,0 0 0,-1 0 0,1 0 0,0 0 0,0 0 0,-1 0 0,1 0 0,0 0 0,-1 0 0,1 0 0,-1 1 0,0-1 0,1 0 0,-1 0 0,0 0 0,1 1 0,-1-1 0,0 0 0,0 0 0,0 1 0,0-1 0,-1 0 0,1 0 0,0 1 0,0-1 0,-1 0 0,1 0 0,-1 0 0,1 1 0,-1-1 0,1 0 0,-1 0 0,0 0 0,0 0 0,1 0 0,-3 1 0,-4 5 0,0-2 0,-1 1 0,1-1 0,-17 8 0,-10 9 0,16-5-55,1 1 1,0 1-1,2 0 0,-15 24 0,10-14-1036,2-4-5735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1:12:54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19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19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20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22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23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34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9:07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9:09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24575,'20'21'0,"12"12"0,36 47 0,-58-66 0,0 1 0,-1 0 0,-1 1 0,-1-1 0,0 1 0,8 32 0,-4 13 0,-2 0 0,-3 1 0,-3 0 0,-5 72 0,3 74 0,22-99-1365,-20-91-5461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9:14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1 387 24575,'127'-115'0,"-119"108"0,-1-2 0,0 1 0,0-1 0,6-10 0,-8 11 0,0 0 0,0 1 0,1 0 0,-1 0 0,2 1 0,-1 0 0,11-9 0,-5 6 0,0-1 0,-1 0 0,0-1 0,-1 0 0,11-16 0,-11 14 0,0 1 0,0 0 0,1 1 0,15-12 0,-25 22 0,1 0 0,-1 1 0,0-1 0,0 0 0,1 1 0,-1-1 0,0 1 0,1 0 0,-1-1 0,0 1 0,1 0 0,-1 0 0,0 0 0,1 0 0,-1 0 0,1 0 0,-1 0 0,0 0 0,1 1 0,-1-1 0,0 0 0,1 1 0,-1-1 0,0 1 0,0 0 0,1-1 0,-1 1 0,0 0 0,0 0 0,0 0 0,0 0 0,0-1 0,1 3 0,33 45 0,-20-25 0,-1-7 0,2 0 0,0-1 0,35 24 0,-11-8 0,20 12 0,-45-34 0,0 1 0,-1 1 0,0 0 0,-1 1 0,0 0 0,-1 1 0,15 20 0,-26-33 0,0 1 0,-1-1 0,0 1 0,1 0 0,-1-1 0,1 1 0,-1-1 0,0 1 0,1 0 0,-1 0 0,0-1 0,0 1 0,1 0 0,-1-1 0,0 1 0,0 0 0,0 0 0,0-1 0,0 1 0,0 0 0,0 0 0,0-1 0,-1 1 0,1 0 0,0 0 0,0-1 0,-1 1 0,1 0 0,0-1 0,-1 1 0,1 0 0,0-1 0,-1 2 0,-1-1 0,0 0 0,0 0 0,0-1 0,1 1 0,-1 0 0,0-1 0,0 1 0,0-1 0,0 1 0,0-1 0,0 0 0,-3 0 0,-56-6 0,20-1 0,0 2 0,-55 0 0,8 1 0,61 1 0,1-2 0,-48-15 0,-15-3 0,-18 0-1365,83 20-5461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23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25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24575,'6'2'0,"-1"-1"0,1 1 0,-1 1 0,0-1 0,0 1 0,0 0 0,-1 0 0,1 0 0,5 6 0,10 5 0,2-1 0,-1 2 0,0-1 0,0 2 0,25 26 0,45 60 0,-5 4 0,99 158 0,-164-232 0,0-1 0,32 35 0,-40-54 11,1 0-1,1-1 0,19 13 1,2 0-1418,-22-13-5419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29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24575,'4'1'0,"-1"0"0,1 0 0,-1 1 0,0-1 0,1 1 0,-1-1 0,0 1 0,0 0 0,4 4 0,13 6 0,27 9 0,-22-11 0,-2 0 0,1 2 0,-2 1 0,0 0 0,27 22 0,-30-19 0,1 0 0,1-2 0,0-1 0,0 0 0,1-1 0,1-2 0,27 10 0,-48-20 0,0 1 0,1 0 0,-1-1 0,0 1 0,0-1 0,0 0 0,0 0 0,0 0 0,1 0 0,-1 0 0,0 0 0,0-1 0,0 1 0,0-1 0,0 1 0,0-1 0,0 0 0,0 0 0,0 1 0,0-2 0,0 1 0,0 0 0,-1 0 0,1-1 0,0 1 0,-1 0 0,1-1 0,-1 0 0,1 1 0,1-4 0,2-6 0,0 1 0,0-1 0,-1 0 0,6-22 0,8-19 0,23-37 0,20-36 0,-46 87-1365,-11 20-5461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31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1019 24575,'2'-12'0,"1"0"0,1 0 0,0 0 0,0 1 0,1-1 0,1 1 0,0 0 0,0 1 0,10-13 0,-6 8 0,96-142 0,48-80 0,-146 224 0,1 1 0,0 0 0,1 1 0,16-16 0,-17 18 0,1 0 0,-2-1 0,1 0 0,-1-1 0,-1 0 0,11-19 0,-8 11 0,0 2 0,1 0 0,24-30 0,-19 28 0,-1-2 0,13-23 0,47-74-1365,-68 102-5461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34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0 166 24575,'17'-2'0,"0"0"0,0-1 0,0-1 0,23-8 0,6-1 0,119-37 0,19-28 0,-182 78 0,-1-1 0,1 1 0,-1 0 0,1-1 0,-1 1 0,1 0 0,-1 0 0,1 0 0,0 0 0,-1 0 0,1 1 0,-1-1 0,1 0 0,-1 1 0,1-1 0,-1 1 0,1 0 0,-1-1 0,0 1 0,1 0 0,-1 0 0,0 0 0,1 0 0,-1 0 0,0 0 0,0 0 0,1 2 0,23 41 0,-10-14 0,-10-22 0,-1-1 0,0 1 0,0 0 0,-1 0 0,0 0 0,0 1 0,-1-1 0,2 17 0,-1 72 0,-3-74 0,0 1 0,7 45 0,9 30-1365,-15-77-5461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1:00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642 32 24575,'-25'-1'0,"0"2"0,0 1 0,-1 1 0,1 1 0,1 1 0,-1 1 0,1 2 0,0 0 0,-34 18 0,41-14 0,1 1 0,0 0 0,2 2 0,-1 0 0,2 0 0,0 1 0,1 1 0,-13 23 0,-2 0 0,13-21 0,-94 146 0,97-143 0,2 0 0,0 1 0,2 0 0,0 0 0,-6 46 0,-1 121 0,14-170 0,2-1 0,0 0 0,1 0 0,1 0 0,1-1 0,0 1 0,1-1 0,2 0 0,-1-1 0,2 0 0,1 0 0,0-1 0,0 0 0,14 15 0,-18-25 0,-1-1 0,1 1 0,0-1 0,0 0 0,0-1 0,1 1 0,-1-1 0,1-1 0,8 4 0,71 23 0,-63-23 0,11 2 0,45 6 0,-9-2 0,-41-8 0,1-1 0,0-1 0,-1-2 0,1 0 0,0-3 0,0 0 0,-1-2 0,1-1 0,-1-1 0,0-2 0,-1-1 0,29-12 0,-40 12 0,0-2 0,-1 1 0,0-2 0,-1 0 0,15-15 0,-27 23 0,1-1 0,-1 1 0,1-1 0,-1 0 0,-1 0 0,1 0 0,-1-1 0,0 1 0,0-1 0,0 1 0,-1-1 0,0 1 0,0-1 0,0-9 0,0-13 0,-5-50 0,1 29 0,3-59 0,1 39 0,-3 0 0,-14-86 0,7 52 0,6 45 0,3 54 0,-1 0 0,0 0 0,0 0 0,0 1 0,0-1 0,-1 0 0,1 1 0,-1-1 0,0 1 0,0-1 0,0 1 0,-1 0 0,1 0 0,-1 0 0,0 0 0,1 1 0,-1-1 0,-1 1 0,-2-3 0,-9-3 0,0-1 0,0 2 0,-22-8 0,25 12 0,1-2 0,0 1 0,1-1 0,-1-1 0,1 0 0,-15-12 0,13 6-98,-14-12-219,0-2 0,3 0 1,-29-41-1,42 51-6509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1:07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0 216 24575,'5'0'0,"-1"0"0,0 0 0,1 0 0,-1 1 0,0 0 0,0 0 0,0 0 0,1 0 0,-1 1 0,0 0 0,-1-1 0,1 1 0,0 1 0,0-1 0,-1 1 0,1-1 0,3 5 0,-4-3 0,1 1 0,-1 0 0,0 0 0,0 0 0,-1 0 0,1 0 0,-1 0 0,0 0 0,-1 1 0,1-1 0,-1 1 0,1 11 0,10 74 0,-5-38 0,2 72 0,-8-93 0,11 58 0,-7-57 0,3 53 0,-9 423 0,2-549 0,0 26 0,0 1 0,-1 0 0,0 0 0,-1-1 0,0 1 0,-1 0 0,-1 0 0,0 0 0,-1 1 0,-6-15 0,4 13 0,0 0 0,0 0 0,2-1 0,0 1 0,0-1 0,2 0 0,-2-24 0,2 3 0,2 1 0,6-41 0,7 6 0,-9 51 0,0-1 0,2-32 0,-8-147 0,4-83 0,-1 276 0,0 0 0,0 1 0,0-1 0,0 1 0,1-1 0,0 1 0,0 0 0,1 0 0,-1-1 0,1 2 0,0-1 0,0 0 0,1 1 0,-1-1 0,1 1 0,0 0 0,0 0 0,6-4 0,-1 3 0,-1 0 0,1 0 0,0 1 0,1 0 0,-1 1 0,1 0 0,-1 0 0,1 1 0,12-2 0,114-20 0,-112 20 0,-2-2 0,29-9 0,-32 8 0,0 1 0,0 1 0,1 1 0,20-2 0,-25 5 0,1 1 0,-1 0 0,0 1 0,0 1 0,0 1 0,0 0 0,0 1 0,-1 0 0,1 1 0,-1 1 0,0 0 0,23 14 0,-16-9-39,-17-9-109,1 1 1,-1-1 0,1 0-1,-1 1 1,0 0 0,0 0 0,0 0-1,5 7 1,0 4-6679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19:30:08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24575,'6'2'0,"-1"-1"0,1 1 0,-1 1 0,0-1 0,0 1 0,0 0 0,-1 0 0,1 0 0,5 6 0,10 5 0,2-1 0,-1 2 0,0-1 0,0 2 0,25 26 0,45 60 0,-5 4 0,99 158 0,-164-232 0,0-1 0,32 35 0,-40-54 11,1 0-1,1-1 0,19 13 1,2 0-1418,-22-13-5419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19:30:08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24575,'4'1'0,"-1"0"0,1 0 0,-1 1 0,0-1 0,1 1 0,-1-1 0,0 1 0,0 0 0,4 4 0,13 6 0,27 9 0,-22-11 0,-2 0 0,1 2 0,-2 1 0,0 0 0,27 22 0,-30-19 0,1 0 0,1-2 0,0-1 0,0 0 0,1-1 0,1-2 0,27 10 0,-48-20 0,0 1 0,1 0 0,-1-1 0,0 1 0,0-1 0,0 0 0,0 0 0,0 0 0,1 0 0,-1 0 0,0 0 0,0-1 0,0 1 0,0-1 0,0 1 0,0-1 0,0 0 0,0 0 0,0 1 0,0-2 0,0 1 0,0 0 0,-1 0 0,1-1 0,0 1 0,-1 0 0,1-1 0,-1 0 0,1 1 0,1-4 0,2-6 0,0 1 0,0-1 0,-1 0 0,6-22 0,8-19 0,23-37 0,20-36 0,-46 87-1365,-11 20-5461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19:30:08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1019 24575,'2'-12'0,"1"0"0,1 0 0,0 0 0,0 1 0,1-1 0,1 1 0,0 0 0,0 1 0,10-13 0,-6 8 0,96-142 0,48-80 0,-146 224 0,1 1 0,0 0 0,1 1 0,16-16 0,-17 18 0,1 0 0,-2-1 0,1 0 0,-1-1 0,-1 0 0,11-19 0,-8 11 0,0 2 0,1 0 0,24-30 0,-19 28 0,-1-2 0,13-23 0,47-74-1365,-68 102-5461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19:30:08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0 166 24575,'17'-2'0,"0"0"0,0-1 0,0-1 0,23-8 0,6-1 0,119-37 0,19-28 0,-182 78 0,-1-1 0,1 1 0,-1 0 0,1-1 0,-1 1 0,1 0 0,-1 0 0,1 0 0,0 0 0,-1 0 0,1 1 0,-1-1 0,1 0 0,-1 1 0,1-1 0,-1 1 0,1 0 0,-1-1 0,0 1 0,1 0 0,-1 0 0,0 0 0,1 0 0,-1 0 0,0 0 0,0 0 0,1 2 0,23 41 0,-10-14 0,-10-22 0,-1-1 0,0 1 0,0 0 0,-1 0 0,0 0 0,0 1 0,-1-1 0,2 17 0,-1 72 0,-3-74 0,0 1 0,7 45 0,9 30-1365,-15-77-5461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19:30:57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24575,'2'4'0,"-1"0"0,1-1 0,-1 1 0,1-1 0,0 0 0,0 1 0,1-1 0,-1 0 0,1 0 0,-1 0 0,1-1 0,0 1 0,0-1 0,4 3 0,2 3 0,16 15 0,47 42 0,91 107 0,-151-157 0,24 27 0,-2 1 0,-2 2 0,-2 1 0,31 65 0,-45-80 0,2-2 0,1 0 0,1 0 0,2-2 0,48 47 0,-34-35 0,47 62 0,5 31 0,-53-74-1365,-26-43-5461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19:30:59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 24575,'0'9'0,"0"8"0,-4 5 0,-3 4 0,2 1 0,-5-3 0,1-1 0,1-1 0,3 1 0,1 2 0,2 0 0,-3 1 0,-2 0 0,2 1 0,1 0 0,1 0 0,1-1 0,1-3-8191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19:31:02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24575,'181'-15'0,"-130"8"0,0 3 0,71 2 0,-105 4 0,-1 2 0,0-1 0,0 2 0,-1 0 0,0 1 0,16 8 0,-14-6 0,1 0 0,0-1 0,0-2 0,22 5 0,40-4-1365,-57-6-5461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19:31:05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21:12:54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19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19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20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23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1:34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29:07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23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25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24575,'6'2'0,"-1"-1"0,1 1 0,-1 1 0,0-1 0,0 1 0,0 0 0,-1 0 0,1 0 0,5 6 0,10 5 0,2-1 0,-1 2 0,0-1 0,0 2 0,25 26 0,45 60 0,-5 4 0,99 158 0,-164-232 0,0-1 0,32 35 0,-40-54 11,1 0-1,1-1 0,19 13 1,2 0-1418,-22-13-5419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29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24575,'4'1'0,"-1"0"0,1 0 0,-1 1 0,0-1 0,1 1 0,-1-1 0,0 1 0,0 0 0,4 4 0,13 6 0,27 9 0,-22-11 0,-2 0 0,1 2 0,-2 1 0,0 0 0,27 22 0,-30-19 0,1 0 0,1-2 0,0-1 0,0 0 0,1-1 0,1-2 0,27 10 0,-48-20 0,0 1 0,1 0 0,-1-1 0,0 1 0,0-1 0,0 0 0,0 0 0,0 0 0,1 0 0,-1 0 0,0 0 0,0-1 0,0 1 0,0-1 0,0 1 0,0-1 0,0 0 0,0 0 0,0 1 0,0-2 0,0 1 0,0 0 0,-1 0 0,1-1 0,0 1 0,-1 0 0,1-1 0,-1 0 0,1 1 0,1-4 0,2-6 0,0 1 0,0-1 0,-1 0 0,6-22 0,8-19 0,23-37 0,20-36 0,-46 87-1365,-11 20-5461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31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1019 24575,'2'-12'0,"1"0"0,1 0 0,0 0 0,0 1 0,1-1 0,1 1 0,0 0 0,0 1 0,10-13 0,-6 8 0,96-142 0,48-80 0,-146 224 0,1 1 0,0 0 0,1 1 0,16-16 0,-17 18 0,1 0 0,-2-1 0,1 0 0,-1-1 0,-1 0 0,11-19 0,-8 11 0,0 2 0,1 0 0,24-30 0,-19 28 0,-1-2 0,13-23 0,47-74-1365,-68 102-5461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14:30:34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0 166 24575,'17'-2'0,"0"0"0,0-1 0,0-1 0,23-8 0,6-1 0,119-37 0,19-28 0,-182 78 0,-1-1 0,1 1 0,-1 0 0,1-1 0,-1 1 0,1 0 0,-1 0 0,1 0 0,0 0 0,-1 0 0,1 1 0,-1-1 0,1 0 0,-1 1 0,1-1 0,-1 1 0,1 0 0,-1-1 0,0 1 0,1 0 0,-1 0 0,0 0 0,1 0 0,-1 0 0,0 0 0,0 0 0,1 2 0,23 41 0,-10-14 0,-10-22 0,-1-1 0,0 1 0,0 0 0,-1 0 0,0 0 0,0 1 0,-1-1 0,2 17 0,-1 72 0,-3-74 0,0 1 0,7 45 0,9 30-1365,-15-77-5461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19:31:05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241C0-C444-4E44-9F1C-AF66402FBF69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C5FDE-3650-4CD3-AD2D-82D5E3FB42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252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A81E-2BEB-6ADC-4442-8FFF0CEE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557D8-98EC-9FB1-5538-78698453F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0FBA2-43BD-3929-2AC5-7E82A512F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Delays</a:t>
            </a:r>
          </a:p>
          <a:p>
            <a:pPr marL="173410" indent="-173410">
              <a:buFontTx/>
              <a:buChar char="-"/>
            </a:pPr>
            <a:r>
              <a:rPr lang="en-US"/>
              <a:t>Vacations</a:t>
            </a:r>
          </a:p>
          <a:p>
            <a:pPr marL="173410" indent="-173410">
              <a:buFontTx/>
              <a:buChar char="-"/>
            </a:pPr>
            <a:r>
              <a:rPr lang="en-US"/>
              <a:t>The Company section was far more complex then estimated</a:t>
            </a:r>
          </a:p>
          <a:p>
            <a:pPr marL="173410" indent="-173410">
              <a:buFontTx/>
              <a:buChar char="-"/>
            </a:pPr>
            <a:r>
              <a:rPr lang="en-US" err="1"/>
              <a:t>BPAVS</a:t>
            </a:r>
            <a:r>
              <a:rPr lang="en-US"/>
              <a:t> support</a:t>
            </a:r>
          </a:p>
          <a:p>
            <a:pPr marL="173410" indent="-173410">
              <a:buFontTx/>
              <a:buChar char="-"/>
            </a:pPr>
            <a:r>
              <a:rPr lang="en-US"/>
              <a:t>eService Support</a:t>
            </a:r>
          </a:p>
          <a:p>
            <a:pPr marL="173410" indent="-173410">
              <a:buFontTx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58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Discussion of Requirements:</a:t>
            </a:r>
          </a:p>
          <a:p>
            <a:pPr marL="171450" indent="-171450">
              <a:buFontTx/>
              <a:buChar char="-"/>
            </a:pPr>
            <a:r>
              <a:rPr lang="en-US"/>
              <a:t>Needs to have ease of copying/pasting old programs to new ones seamlessly</a:t>
            </a:r>
          </a:p>
          <a:p>
            <a:pPr marL="171450" indent="-171450">
              <a:buFontTx/>
              <a:buChar char="-"/>
            </a:pPr>
            <a:r>
              <a:rPr lang="en-US"/>
              <a:t>Simulation and testing attached for easy reference</a:t>
            </a:r>
          </a:p>
          <a:p>
            <a:pPr marL="171450" indent="-171450">
              <a:buFontTx/>
              <a:buChar char="-"/>
            </a:pPr>
            <a:r>
              <a:rPr lang="en-US" err="1"/>
              <a:t>Cementics</a:t>
            </a:r>
            <a:r>
              <a:rPr lang="en-US"/>
              <a:t> model of having everything integrated is appealing</a:t>
            </a:r>
          </a:p>
          <a:p>
            <a:pPr marL="171450" indent="-171450">
              <a:buFontTx/>
              <a:buChar char="-"/>
            </a:pPr>
            <a:r>
              <a:rPr lang="en-US"/>
              <a:t>Group was very open to the idea of using the simulator (CEMPRO or </a:t>
            </a:r>
            <a:r>
              <a:rPr lang="en-US" err="1"/>
              <a:t>Cementics</a:t>
            </a:r>
            <a:r>
              <a:rPr lang="en-US"/>
              <a:t>) as the input tool (inputting everything once)</a:t>
            </a:r>
          </a:p>
          <a:p>
            <a:pPr marL="171450" indent="-171450">
              <a:buFontTx/>
              <a:buChar char="-"/>
            </a:pPr>
            <a:r>
              <a:rPr lang="en-US"/>
              <a:t>Program output, some discussion of whether that would produce a Word, Excel or other type of document</a:t>
            </a:r>
          </a:p>
          <a:p>
            <a:pPr marL="171450" indent="-171450">
              <a:buFontTx/>
              <a:buChar char="-"/>
            </a:pPr>
            <a:r>
              <a:rPr lang="en-US"/>
              <a:t>Import tool for old programs, stick diagrams, well surveys, logs</a:t>
            </a:r>
          </a:p>
          <a:p>
            <a:pPr marL="171450" indent="-171450">
              <a:buFontTx/>
              <a:buChar char="-"/>
            </a:pPr>
            <a:r>
              <a:rPr lang="en-US"/>
              <a:t>Reduce the slowness, clunkiness</a:t>
            </a:r>
          </a:p>
          <a:p>
            <a:pPr marL="171450" indent="-171450">
              <a:buFontTx/>
              <a:buChar char="-"/>
            </a:pPr>
            <a:r>
              <a:rPr lang="en-US"/>
              <a:t>Frac gradient database</a:t>
            </a:r>
          </a:p>
          <a:p>
            <a:pPr marL="171450" indent="-171450">
              <a:buFontTx/>
              <a:buChar char="-"/>
            </a:pPr>
            <a:r>
              <a:rPr lang="en-US"/>
              <a:t>Design guidance from Engineering Basis of Design, like CEMPRO red/yellow/green scheme for design elements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0332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6418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0969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Important for Sales to be able to easily submit new program requests remotely, providing minimal amount of data</a:t>
            </a:r>
          </a:p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0694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858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CA"/>
              <a:t>How do we deal with differences or changes required?</a:t>
            </a:r>
          </a:p>
          <a:p>
            <a:pPr marL="171450" indent="-171450">
              <a:buFontTx/>
              <a:buChar char="-"/>
            </a:pPr>
            <a:r>
              <a:rPr lang="en-CA"/>
              <a:t>The simulation and the input file may be different – Do I care?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4052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CA"/>
              <a:t>How do we deal with differences or changes required?</a:t>
            </a:r>
          </a:p>
          <a:p>
            <a:pPr marL="171450" indent="-171450">
              <a:buFontTx/>
              <a:buChar char="-"/>
            </a:pPr>
            <a:r>
              <a:rPr lang="en-CA"/>
              <a:t>The simulation and the input file may be different – Do I care?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7870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276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Important for Sales to be able to easily submit new program requests remotely, providing minimal amount of data</a:t>
            </a:r>
          </a:p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0664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7364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CA"/>
              <a:t>How do we deal with differences or changes required?</a:t>
            </a:r>
          </a:p>
          <a:p>
            <a:pPr marL="171450" indent="-171450">
              <a:buFontTx/>
              <a:buChar char="-"/>
            </a:pPr>
            <a:r>
              <a:rPr lang="en-CA"/>
              <a:t>The simulation and the input file may be different – Do I care?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9351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7099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2810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1112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3556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552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22176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5FDE-3650-4CD3-AD2D-82D5E3FB422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694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0E3D-C19C-2C9C-5F24-284E648CA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F004F-CAA0-5350-9F4C-F6C5D7A85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79CE3-906A-CB4F-0ACF-93A15B04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90E7B-D14C-88D0-BA2D-03CCCB1EC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4E189-19FA-995F-9FDE-B9BA5F8A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700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FE94-7F87-85D1-2316-E513C5571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9CBF0-7D78-592B-F1A3-51894D8CA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2472B-9699-7865-98C3-E3BE93EA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5BA34-3B71-A945-7C6C-C94D22FCF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92975-F5B8-5F08-FDB8-384FFA3E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57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0A7C-FFAD-4E21-013C-CB53FC834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E8E0B-DE21-8025-8650-FDED75B43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8D76A-ACA6-AC59-6D86-80049DF3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1B5AB-AC64-BA46-3367-4C60793B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18A16-A5FE-A875-ECBC-DD6E8917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2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133A-A96C-B99C-B8B2-7A8EEF6D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0F2E0-8BFE-4B73-FCC6-36232B3F5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BE80C-298C-9DCD-C22D-A2E8454BC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FEF7E-D984-1567-1950-57E25DC4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CD4D2-7305-CCCE-1256-7694E8D8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BDEA0-0099-44F2-6988-FCD436A7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5457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06AC1-9FE7-F74F-3546-C7387B6D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AD50A-3253-4D26-8C76-C8C3D45C8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770D3-9B50-2C62-1F6A-932B2E311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B07942-F1D7-514B-58FA-50B4720D6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E0458-A4A2-10E2-AFA1-CB74348A7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C07BD-4222-FD0C-D644-1116AADFB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9C439-4BF8-BEEA-A2C0-9B5500F1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B7EB4-D6DF-1FF4-C67D-C222827B0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9732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086B-51D2-7F68-E2AB-FB56F3B7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4D3A1-2F94-C21E-059D-14A2C453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2C9CD-4B5C-608D-5488-2305393E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07C55-EA93-7FC9-AA6E-D33C0B4E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986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A00E31-3B46-264A-C09B-E7E9929D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64D95-ED31-5AEB-7691-112DEA7AE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1EE16-8C47-EEB0-6F4A-DF4AED50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48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9D18-F0BC-13E5-9E41-42A55962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D5713-F819-A337-811B-9439025D7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3A741-F544-DCB1-04F5-26FB45329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4DE45-0962-3826-21CB-F176D7E9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EE92E-5854-4157-0046-6ABD4F46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56BD6-EA45-FB27-7943-E389BE55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3596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FB87-09C5-D011-232D-BBA00A0E7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D77D1-AE08-370E-5C9F-10D3E79E57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CF526-A6EF-7D04-F8A2-59BA56730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6B36A-EE69-E029-206E-AFCA846B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56B5F-E6DF-29FE-9C04-B27D52C4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76D05-6784-34D2-CF04-E36FC14C1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726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FE64-62F7-0E38-314C-83B76173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7D84C-FC78-38C8-9198-6A0FC5E52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1E36E-F271-F84C-49D1-8A03CF2A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7F084-DD42-C4D3-31AE-3AE0CAEF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ABD7D-74F0-4D37-B200-AE345975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45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5F67C-B4DF-DF08-F2B0-142FFFA2B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41317-C6EC-547E-517B-CA4FB9EE1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77B70-780F-A57D-B236-56A7DB21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77F7A-EC93-6FC0-8AA2-2D493FF78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BCF7C-D184-D0EA-82A0-F41FB824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687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D73CED-CDE4-1D0A-CD3B-B8BFCE2B8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0C82E-30E2-00AD-9B5E-6771A50B1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74491-C4EC-423A-01E5-432A94CFB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F417E-F744-4834-B8FF-440003A7E19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CC3F7-2FBF-A8C9-3E6E-EEBDDCDE3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FE6D-F6FE-B20F-74B4-4C82CE88E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99959-A7C6-45C3-9673-64D2ACD57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317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3" Type="http://schemas.openxmlformats.org/officeDocument/2006/relationships/customXml" Target="../ink/ink1.xml"/><Relationship Id="rId21" Type="http://schemas.openxmlformats.org/officeDocument/2006/relationships/customXml" Target="../ink/ink12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9.png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19" Type="http://schemas.openxmlformats.org/officeDocument/2006/relationships/customXml" Target="../ink/ink10.xml"/><Relationship Id="rId4" Type="http://schemas.openxmlformats.org/officeDocument/2006/relationships/image" Target="../media/image30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customXml" Target="../ink/ink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15.png"/><Relationship Id="rId18" Type="http://schemas.openxmlformats.org/officeDocument/2006/relationships/customXml" Target="../ink/ink22.xml"/><Relationship Id="rId26" Type="http://schemas.openxmlformats.org/officeDocument/2006/relationships/customXml" Target="../ink/ink26.xml"/><Relationship Id="rId39" Type="http://schemas.openxmlformats.org/officeDocument/2006/relationships/image" Target="../media/image28.png"/><Relationship Id="rId3" Type="http://schemas.openxmlformats.org/officeDocument/2006/relationships/image" Target="../media/image10.png"/><Relationship Id="rId21" Type="http://schemas.openxmlformats.org/officeDocument/2006/relationships/image" Target="../media/image19.png"/><Relationship Id="rId34" Type="http://schemas.openxmlformats.org/officeDocument/2006/relationships/customXml" Target="../ink/ink30.xml"/><Relationship Id="rId7" Type="http://schemas.openxmlformats.org/officeDocument/2006/relationships/image" Target="../media/image12.png"/><Relationship Id="rId12" Type="http://schemas.openxmlformats.org/officeDocument/2006/relationships/customXml" Target="../ink/ink19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33" Type="http://schemas.openxmlformats.org/officeDocument/2006/relationships/image" Target="../media/image25.png"/><Relationship Id="rId38" Type="http://schemas.openxmlformats.org/officeDocument/2006/relationships/customXml" Target="../ink/ink32.xml"/><Relationship Id="rId2" Type="http://schemas.openxmlformats.org/officeDocument/2006/relationships/customXml" Target="../ink/ink14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29" Type="http://schemas.openxmlformats.org/officeDocument/2006/relationships/image" Target="../media/image23.png"/><Relationship Id="rId41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14.png"/><Relationship Id="rId24" Type="http://schemas.openxmlformats.org/officeDocument/2006/relationships/customXml" Target="../ink/ink25.xml"/><Relationship Id="rId32" Type="http://schemas.openxmlformats.org/officeDocument/2006/relationships/customXml" Target="../ink/ink29.xml"/><Relationship Id="rId37" Type="http://schemas.openxmlformats.org/officeDocument/2006/relationships/image" Target="../media/image27.png"/><Relationship Id="rId40" Type="http://schemas.openxmlformats.org/officeDocument/2006/relationships/customXml" Target="../ink/ink33.xml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customXml" Target="../ink/ink27.xml"/><Relationship Id="rId36" Type="http://schemas.openxmlformats.org/officeDocument/2006/relationships/customXml" Target="../ink/ink31.xml"/><Relationship Id="rId10" Type="http://schemas.openxmlformats.org/officeDocument/2006/relationships/customXml" Target="../ink/ink18.xml"/><Relationship Id="rId19" Type="http://schemas.openxmlformats.org/officeDocument/2006/relationships/image" Target="../media/image18.png"/><Relationship Id="rId31" Type="http://schemas.openxmlformats.org/officeDocument/2006/relationships/image" Target="../media/image24.png"/><Relationship Id="rId4" Type="http://schemas.openxmlformats.org/officeDocument/2006/relationships/customXml" Target="../ink/ink15.xml"/><Relationship Id="rId9" Type="http://schemas.openxmlformats.org/officeDocument/2006/relationships/image" Target="../media/image13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Relationship Id="rId27" Type="http://schemas.openxmlformats.org/officeDocument/2006/relationships/image" Target="../media/image22.png"/><Relationship Id="rId30" Type="http://schemas.openxmlformats.org/officeDocument/2006/relationships/customXml" Target="../ink/ink28.xml"/><Relationship Id="rId35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41.xml"/><Relationship Id="rId18" Type="http://schemas.openxmlformats.org/officeDocument/2006/relationships/customXml" Target="../ink/ink45.xml"/><Relationship Id="rId26" Type="http://schemas.openxmlformats.org/officeDocument/2006/relationships/image" Target="../media/image140.png"/><Relationship Id="rId39" Type="http://schemas.openxmlformats.org/officeDocument/2006/relationships/customXml" Target="../ink/ink58.xml"/><Relationship Id="rId3" Type="http://schemas.openxmlformats.org/officeDocument/2006/relationships/customXml" Target="../ink/ink34.xml"/><Relationship Id="rId21" Type="http://schemas.openxmlformats.org/officeDocument/2006/relationships/customXml" Target="../ink/ink47.xml"/><Relationship Id="rId34" Type="http://schemas.openxmlformats.org/officeDocument/2006/relationships/customXml" Target="../ink/ink54.xml"/><Relationship Id="rId42" Type="http://schemas.openxmlformats.org/officeDocument/2006/relationships/image" Target="../media/image200.png"/><Relationship Id="rId7" Type="http://schemas.openxmlformats.org/officeDocument/2006/relationships/customXml" Target="../ink/ink36.xml"/><Relationship Id="rId12" Type="http://schemas.openxmlformats.org/officeDocument/2006/relationships/customXml" Target="../ink/ink40.xml"/><Relationship Id="rId17" Type="http://schemas.openxmlformats.org/officeDocument/2006/relationships/image" Target="../media/image100.png"/><Relationship Id="rId25" Type="http://schemas.openxmlformats.org/officeDocument/2006/relationships/customXml" Target="../ink/ink49.xml"/><Relationship Id="rId33" Type="http://schemas.openxmlformats.org/officeDocument/2006/relationships/customXml" Target="../ink/ink53.xml"/><Relationship Id="rId38" Type="http://schemas.openxmlformats.org/officeDocument/2006/relationships/image" Target="../media/image180.png"/><Relationship Id="rId2" Type="http://schemas.openxmlformats.org/officeDocument/2006/relationships/notesSlide" Target="../notesSlides/notesSlide18.xml"/><Relationship Id="rId16" Type="http://schemas.openxmlformats.org/officeDocument/2006/relationships/customXml" Target="../ink/ink44.xml"/><Relationship Id="rId20" Type="http://schemas.openxmlformats.org/officeDocument/2006/relationships/customXml" Target="../ink/ink46.xml"/><Relationship Id="rId29" Type="http://schemas.openxmlformats.org/officeDocument/2006/relationships/customXml" Target="../ink/ink51.xml"/><Relationship Id="rId41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39.xml"/><Relationship Id="rId24" Type="http://schemas.openxmlformats.org/officeDocument/2006/relationships/image" Target="../media/image130.png"/><Relationship Id="rId32" Type="http://schemas.openxmlformats.org/officeDocument/2006/relationships/image" Target="../media/image170.png"/><Relationship Id="rId37" Type="http://schemas.openxmlformats.org/officeDocument/2006/relationships/customXml" Target="../ink/ink57.xml"/><Relationship Id="rId40" Type="http://schemas.openxmlformats.org/officeDocument/2006/relationships/image" Target="../media/image190.png"/><Relationship Id="rId5" Type="http://schemas.openxmlformats.org/officeDocument/2006/relationships/customXml" Target="../ink/ink35.xml"/><Relationship Id="rId15" Type="http://schemas.openxmlformats.org/officeDocument/2006/relationships/customXml" Target="../ink/ink43.xml"/><Relationship Id="rId23" Type="http://schemas.openxmlformats.org/officeDocument/2006/relationships/customXml" Target="../ink/ink48.xml"/><Relationship Id="rId28" Type="http://schemas.openxmlformats.org/officeDocument/2006/relationships/image" Target="../media/image150.png"/><Relationship Id="rId36" Type="http://schemas.openxmlformats.org/officeDocument/2006/relationships/customXml" Target="../ink/ink56.xml"/><Relationship Id="rId10" Type="http://schemas.openxmlformats.org/officeDocument/2006/relationships/customXml" Target="../ink/ink38.xml"/><Relationship Id="rId19" Type="http://schemas.openxmlformats.org/officeDocument/2006/relationships/image" Target="../media/image110.png"/><Relationship Id="rId31" Type="http://schemas.openxmlformats.org/officeDocument/2006/relationships/customXml" Target="../ink/ink52.xml"/><Relationship Id="rId4" Type="http://schemas.openxmlformats.org/officeDocument/2006/relationships/image" Target="../media/image50.png"/><Relationship Id="rId9" Type="http://schemas.openxmlformats.org/officeDocument/2006/relationships/customXml" Target="../ink/ink37.xml"/><Relationship Id="rId14" Type="http://schemas.openxmlformats.org/officeDocument/2006/relationships/customXml" Target="../ink/ink42.xml"/><Relationship Id="rId22" Type="http://schemas.openxmlformats.org/officeDocument/2006/relationships/image" Target="../media/image120.png"/><Relationship Id="rId27" Type="http://schemas.openxmlformats.org/officeDocument/2006/relationships/customXml" Target="../ink/ink50.xml"/><Relationship Id="rId30" Type="http://schemas.openxmlformats.org/officeDocument/2006/relationships/image" Target="../media/image160.png"/><Relationship Id="rId35" Type="http://schemas.openxmlformats.org/officeDocument/2006/relationships/customXml" Target="../ink/ink55.xml"/><Relationship Id="rId43" Type="http://schemas.openxmlformats.org/officeDocument/2006/relationships/customXml" Target="../ink/ink6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5.xml"/><Relationship Id="rId13" Type="http://schemas.openxmlformats.org/officeDocument/2006/relationships/image" Target="../media/image120.png"/><Relationship Id="rId18" Type="http://schemas.openxmlformats.org/officeDocument/2006/relationships/customXml" Target="../ink/ink72.xml"/><Relationship Id="rId3" Type="http://schemas.openxmlformats.org/officeDocument/2006/relationships/customXml" Target="../ink/ink61.xml"/><Relationship Id="rId7" Type="http://schemas.openxmlformats.org/officeDocument/2006/relationships/customXml" Target="../ink/ink64.xml"/><Relationship Id="rId12" Type="http://schemas.openxmlformats.org/officeDocument/2006/relationships/customXml" Target="../ink/ink69.xml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19.xml"/><Relationship Id="rId16" Type="http://schemas.openxmlformats.org/officeDocument/2006/relationships/customXml" Target="../ink/ink71.xml"/><Relationship Id="rId20" Type="http://schemas.openxmlformats.org/officeDocument/2006/relationships/customXml" Target="../ink/ink7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63.xml"/><Relationship Id="rId11" Type="http://schemas.openxmlformats.org/officeDocument/2006/relationships/customXml" Target="../ink/ink68.xml"/><Relationship Id="rId5" Type="http://schemas.openxmlformats.org/officeDocument/2006/relationships/customXml" Target="../ink/ink62.xml"/><Relationship Id="rId15" Type="http://schemas.openxmlformats.org/officeDocument/2006/relationships/image" Target="../media/image130.png"/><Relationship Id="rId10" Type="http://schemas.openxmlformats.org/officeDocument/2006/relationships/customXml" Target="../ink/ink67.xml"/><Relationship Id="rId19" Type="http://schemas.openxmlformats.org/officeDocument/2006/relationships/image" Target="../media/image150.png"/><Relationship Id="rId4" Type="http://schemas.openxmlformats.org/officeDocument/2006/relationships/image" Target="../media/image9.png"/><Relationship Id="rId9" Type="http://schemas.openxmlformats.org/officeDocument/2006/relationships/customXml" Target="../ink/ink66.xml"/><Relationship Id="rId14" Type="http://schemas.openxmlformats.org/officeDocument/2006/relationships/customXml" Target="../ink/ink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88A9-0A9A-F965-56B1-8F219B05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627C1EA4-3FD9-8D5A-1BBB-183967B75E63}"/>
              </a:ext>
            </a:extLst>
          </p:cNvPr>
          <p:cNvSpPr/>
          <p:nvPr/>
        </p:nvSpPr>
        <p:spPr>
          <a:xfrm>
            <a:off x="4039457" y="1470161"/>
            <a:ext cx="3833910" cy="3367016"/>
          </a:xfrm>
          <a:prstGeom prst="rect">
            <a:avLst/>
          </a:prstGeom>
          <a:solidFill>
            <a:schemeClr val="bg1">
              <a:lumMod val="6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E5AA55-1A5E-31A6-E91C-558E539FC844}"/>
              </a:ext>
            </a:extLst>
          </p:cNvPr>
          <p:cNvSpPr/>
          <p:nvPr/>
        </p:nvSpPr>
        <p:spPr>
          <a:xfrm>
            <a:off x="7875217" y="1473096"/>
            <a:ext cx="3833910" cy="3364080"/>
          </a:xfrm>
          <a:prstGeom prst="rect">
            <a:avLst/>
          </a:prstGeom>
          <a:solidFill>
            <a:schemeClr val="tx2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E2205-A332-2A97-F0FD-3786410F3C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83173" cy="784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rgbClr val="6E273D"/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CA" sz="44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 Year Roadmap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12641D-D772-DB86-C885-BEA69DD84F26}"/>
              </a:ext>
            </a:extLst>
          </p:cNvPr>
          <p:cNvSpPr/>
          <p:nvPr/>
        </p:nvSpPr>
        <p:spPr>
          <a:xfrm>
            <a:off x="-10048" y="325128"/>
            <a:ext cx="200967" cy="864159"/>
          </a:xfrm>
          <a:prstGeom prst="rect">
            <a:avLst/>
          </a:prstGeom>
          <a:solidFill>
            <a:srgbClr val="6B2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B253C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547475-5A46-169A-84E3-DC7682753D43}"/>
              </a:ext>
            </a:extLst>
          </p:cNvPr>
          <p:cNvCxnSpPr>
            <a:cxnSpLocks/>
          </p:cNvCxnSpPr>
          <p:nvPr/>
        </p:nvCxnSpPr>
        <p:spPr>
          <a:xfrm>
            <a:off x="838200" y="1189287"/>
            <a:ext cx="1032551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">
            <a:extLst>
              <a:ext uri="{FF2B5EF4-FFF2-40B4-BE49-F238E27FC236}">
                <a16:creationId xmlns:a16="http://schemas.microsoft.com/office/drawing/2014/main" id="{765E9044-F54E-F284-823D-61660EEBB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18A00A-0A1D-DFF1-FC30-5749A277C706}"/>
              </a:ext>
            </a:extLst>
          </p:cNvPr>
          <p:cNvSpPr/>
          <p:nvPr/>
        </p:nvSpPr>
        <p:spPr>
          <a:xfrm>
            <a:off x="211350" y="1482239"/>
            <a:ext cx="3833910" cy="3354937"/>
          </a:xfrm>
          <a:prstGeom prst="rect">
            <a:avLst/>
          </a:prstGeom>
          <a:solidFill>
            <a:schemeClr val="tx2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37D30F5-3251-D831-6D8C-08D9FE589108}"/>
              </a:ext>
            </a:extLst>
          </p:cNvPr>
          <p:cNvSpPr>
            <a:spLocks noGrp="1"/>
          </p:cNvSpPr>
          <p:nvPr/>
        </p:nvSpPr>
        <p:spPr>
          <a:xfrm>
            <a:off x="211350" y="1565145"/>
            <a:ext cx="3833910" cy="24128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usso One" panose="02000503050000020004" pitchFamily="2" charset="0"/>
                <a:ea typeface="+mn-ea"/>
                <a:cs typeface="Kanit Light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2025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26A6013-D931-AB09-5174-AE1B10860110}"/>
              </a:ext>
            </a:extLst>
          </p:cNvPr>
          <p:cNvSpPr>
            <a:spLocks noGrp="1"/>
          </p:cNvSpPr>
          <p:nvPr/>
        </p:nvSpPr>
        <p:spPr>
          <a:xfrm>
            <a:off x="4047109" y="1564003"/>
            <a:ext cx="3820155" cy="24128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usso One" panose="02000503050000020004" pitchFamily="2" charset="0"/>
                <a:ea typeface="+mn-ea"/>
                <a:cs typeface="Kanit Light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2026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5BAD21-F05C-85B1-C348-AA44775D364F}"/>
              </a:ext>
            </a:extLst>
          </p:cNvPr>
          <p:cNvGrpSpPr/>
          <p:nvPr/>
        </p:nvGrpSpPr>
        <p:grpSpPr>
          <a:xfrm>
            <a:off x="293718" y="2068947"/>
            <a:ext cx="2309553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F47DBDF9-BF61-EA48-84B0-C8C0AC8976AC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Arrow: Chevron 4">
              <a:extLst>
                <a:ext uri="{FF2B5EF4-FFF2-40B4-BE49-F238E27FC236}">
                  <a16:creationId xmlns:a16="http://schemas.microsoft.com/office/drawing/2014/main" id="{167CC20F-5658-D3C7-88C6-D0E1CA0FAB72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pPr lvl="0"/>
              <a:r>
                <a:rPr lang="en-US" sz="1200"/>
                <a:t>Engineering Design P1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AC427A8-CE5F-A134-FE00-8744D8256CEF}"/>
              </a:ext>
            </a:extLst>
          </p:cNvPr>
          <p:cNvCxnSpPr>
            <a:cxnSpLocks/>
          </p:cNvCxnSpPr>
          <p:nvPr/>
        </p:nvCxnSpPr>
        <p:spPr>
          <a:xfrm>
            <a:off x="214033" y="1890327"/>
            <a:ext cx="11503046" cy="0"/>
          </a:xfrm>
          <a:prstGeom prst="line">
            <a:avLst/>
          </a:prstGeom>
          <a:ln>
            <a:solidFill>
              <a:srgbClr val="6C06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2E84818-771D-2DC5-6DBF-4F42A7761E60}"/>
              </a:ext>
            </a:extLst>
          </p:cNvPr>
          <p:cNvGrpSpPr/>
          <p:nvPr/>
        </p:nvGrpSpPr>
        <p:grpSpPr>
          <a:xfrm>
            <a:off x="211350" y="2835896"/>
            <a:ext cx="1466104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94373F09-7010-776C-7FF8-176FF3727E9B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Arrow: Chevron 4">
              <a:extLst>
                <a:ext uri="{FF2B5EF4-FFF2-40B4-BE49-F238E27FC236}">
                  <a16:creationId xmlns:a16="http://schemas.microsoft.com/office/drawing/2014/main" id="{9AE09714-B779-2645-B750-3D3AE345865D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pPr lvl="0"/>
              <a:r>
                <a:rPr lang="en-US" sz="1200"/>
                <a:t>Auto Ticket Numbers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9F1E535-0184-051D-65EA-2A39AC382B5D}"/>
              </a:ext>
            </a:extLst>
          </p:cNvPr>
          <p:cNvGrpSpPr/>
          <p:nvPr/>
        </p:nvGrpSpPr>
        <p:grpSpPr>
          <a:xfrm>
            <a:off x="1517977" y="2835896"/>
            <a:ext cx="1466104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334B61E8-B1D6-414D-C658-B42106474279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Arrow: Chevron 4">
              <a:extLst>
                <a:ext uri="{FF2B5EF4-FFF2-40B4-BE49-F238E27FC236}">
                  <a16:creationId xmlns:a16="http://schemas.microsoft.com/office/drawing/2014/main" id="{86F3C48D-A701-A957-E6C8-2E9E054FA21B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pPr lvl="0"/>
              <a:r>
                <a:rPr lang="en-US" sz="1200"/>
                <a:t>AP Automation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826FF2-169E-009E-638B-5E460224F479}"/>
              </a:ext>
            </a:extLst>
          </p:cNvPr>
          <p:cNvGrpSpPr/>
          <p:nvPr/>
        </p:nvGrpSpPr>
        <p:grpSpPr>
          <a:xfrm>
            <a:off x="1677454" y="3669177"/>
            <a:ext cx="2034430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50" name="Arrow: Chevron 49">
              <a:extLst>
                <a:ext uri="{FF2B5EF4-FFF2-40B4-BE49-F238E27FC236}">
                  <a16:creationId xmlns:a16="http://schemas.microsoft.com/office/drawing/2014/main" id="{3136272A-FF20-C90F-1A50-747D15595A34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Arrow: Chevron 4">
              <a:extLst>
                <a:ext uri="{FF2B5EF4-FFF2-40B4-BE49-F238E27FC236}">
                  <a16:creationId xmlns:a16="http://schemas.microsoft.com/office/drawing/2014/main" id="{1FB562EF-80FC-6A2E-A392-AC0DE05499E8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pPr lvl="0"/>
              <a:r>
                <a:rPr lang="en-US" sz="1200"/>
                <a:t>Dynamic Pricing Tool Automation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E0F7232-4A8C-5F49-52A1-759285A7A907}"/>
              </a:ext>
            </a:extLst>
          </p:cNvPr>
          <p:cNvGrpSpPr/>
          <p:nvPr/>
        </p:nvGrpSpPr>
        <p:grpSpPr>
          <a:xfrm>
            <a:off x="4164172" y="2112945"/>
            <a:ext cx="1872928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53" name="Arrow: Chevron 52">
              <a:extLst>
                <a:ext uri="{FF2B5EF4-FFF2-40B4-BE49-F238E27FC236}">
                  <a16:creationId xmlns:a16="http://schemas.microsoft.com/office/drawing/2014/main" id="{1FBFC30C-5C0C-1AEC-626E-D9295BB04DA2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Arrow: Chevron 4">
              <a:extLst>
                <a:ext uri="{FF2B5EF4-FFF2-40B4-BE49-F238E27FC236}">
                  <a16:creationId xmlns:a16="http://schemas.microsoft.com/office/drawing/2014/main" id="{105B6BC2-DA9F-A18A-34C4-388061E20D51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pPr lvl="0"/>
              <a:r>
                <a:rPr lang="en-US" sz="1200"/>
                <a:t>Auto Sample Login &amp; WSC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71C39C4-43D3-709D-D52E-7BDD7A418296}"/>
              </a:ext>
            </a:extLst>
          </p:cNvPr>
          <p:cNvGrpSpPr/>
          <p:nvPr/>
        </p:nvGrpSpPr>
        <p:grpSpPr>
          <a:xfrm>
            <a:off x="2844719" y="2842105"/>
            <a:ext cx="1206080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56" name="Arrow: Chevron 55">
              <a:extLst>
                <a:ext uri="{FF2B5EF4-FFF2-40B4-BE49-F238E27FC236}">
                  <a16:creationId xmlns:a16="http://schemas.microsoft.com/office/drawing/2014/main" id="{03ED0E49-4845-33B1-EE15-41EA5A25A69B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Arrow: Chevron 4">
              <a:extLst>
                <a:ext uri="{FF2B5EF4-FFF2-40B4-BE49-F238E27FC236}">
                  <a16:creationId xmlns:a16="http://schemas.microsoft.com/office/drawing/2014/main" id="{6FCC67C0-B764-CD1E-FEB1-642617F75494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pPr lvl="0"/>
              <a:r>
                <a:rPr lang="en-US" sz="1200"/>
                <a:t>B2B</a:t>
              </a:r>
            </a:p>
          </p:txBody>
        </p:sp>
      </p:grp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773BAFDF-BCCB-E71F-D10A-8003C97A13B0}"/>
              </a:ext>
            </a:extLst>
          </p:cNvPr>
          <p:cNvSpPr>
            <a:spLocks noGrp="1"/>
          </p:cNvSpPr>
          <p:nvPr/>
        </p:nvSpPr>
        <p:spPr>
          <a:xfrm>
            <a:off x="7875215" y="1583121"/>
            <a:ext cx="3822005" cy="24128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usso One" panose="02000503050000020004" pitchFamily="2" charset="0"/>
                <a:ea typeface="+mn-ea"/>
                <a:cs typeface="Kanit Light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Kanit Light" pitchFamily="2" charset="-34"/>
                <a:ea typeface="+mn-ea"/>
                <a:cs typeface="Kanit Ligh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2027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B2DB7F-2DED-F342-6BF4-600DEBB8E039}"/>
              </a:ext>
            </a:extLst>
          </p:cNvPr>
          <p:cNvGrpSpPr/>
          <p:nvPr/>
        </p:nvGrpSpPr>
        <p:grpSpPr>
          <a:xfrm>
            <a:off x="6172262" y="2135801"/>
            <a:ext cx="1603428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40" name="Arrow: Chevron 39">
              <a:extLst>
                <a:ext uri="{FF2B5EF4-FFF2-40B4-BE49-F238E27FC236}">
                  <a16:creationId xmlns:a16="http://schemas.microsoft.com/office/drawing/2014/main" id="{FAC3F5DD-5F35-9131-3F46-0F35F21672E1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Arrow: Chevron 4">
              <a:extLst>
                <a:ext uri="{FF2B5EF4-FFF2-40B4-BE49-F238E27FC236}">
                  <a16:creationId xmlns:a16="http://schemas.microsoft.com/office/drawing/2014/main" id="{9D4FD933-E628-0484-38F6-7C82B04BE55E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sz="1200"/>
                <a:t>Complexity Matrix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DCEB488-F1BA-AB66-18E3-D27E3BE92487}"/>
              </a:ext>
            </a:extLst>
          </p:cNvPr>
          <p:cNvGrpSpPr/>
          <p:nvPr/>
        </p:nvGrpSpPr>
        <p:grpSpPr>
          <a:xfrm>
            <a:off x="8138535" y="2844072"/>
            <a:ext cx="1580416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43" name="Arrow: Chevron 42">
              <a:extLst>
                <a:ext uri="{FF2B5EF4-FFF2-40B4-BE49-F238E27FC236}">
                  <a16:creationId xmlns:a16="http://schemas.microsoft.com/office/drawing/2014/main" id="{A0DDB342-113C-AF28-60DD-6256778B3FCD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Arrow: Chevron 4">
              <a:extLst>
                <a:ext uri="{FF2B5EF4-FFF2-40B4-BE49-F238E27FC236}">
                  <a16:creationId xmlns:a16="http://schemas.microsoft.com/office/drawing/2014/main" id="{E06A9C3F-1424-B3E9-2E61-4560E70DE60F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sz="1200"/>
                <a:t>Engineering Design P2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05B251C-2B4B-2AD3-B515-3505631054F6}"/>
              </a:ext>
            </a:extLst>
          </p:cNvPr>
          <p:cNvGrpSpPr/>
          <p:nvPr/>
        </p:nvGrpSpPr>
        <p:grpSpPr>
          <a:xfrm>
            <a:off x="4146125" y="3669177"/>
            <a:ext cx="3687713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59" name="Arrow: Chevron 58">
              <a:extLst>
                <a:ext uri="{FF2B5EF4-FFF2-40B4-BE49-F238E27FC236}">
                  <a16:creationId xmlns:a16="http://schemas.microsoft.com/office/drawing/2014/main" id="{24F47AF7-E3F4-2C20-CF00-71B209B795DB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Arrow: Chevron 4">
              <a:extLst>
                <a:ext uri="{FF2B5EF4-FFF2-40B4-BE49-F238E27FC236}">
                  <a16:creationId xmlns:a16="http://schemas.microsoft.com/office/drawing/2014/main" id="{D51FBF4B-FD9E-F745-71AF-213431097CE1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sz="1200"/>
                <a:t>D365 Upgrade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4D9E7E3-B37F-51E2-867C-50F6D4380789}"/>
              </a:ext>
            </a:extLst>
          </p:cNvPr>
          <p:cNvGrpSpPr/>
          <p:nvPr/>
        </p:nvGrpSpPr>
        <p:grpSpPr>
          <a:xfrm>
            <a:off x="4176347" y="2835896"/>
            <a:ext cx="1726004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62" name="Arrow: Chevron 61">
              <a:extLst>
                <a:ext uri="{FF2B5EF4-FFF2-40B4-BE49-F238E27FC236}">
                  <a16:creationId xmlns:a16="http://schemas.microsoft.com/office/drawing/2014/main" id="{5651D942-268D-4874-8291-4F578697DDE9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Arrow: Chevron 4">
              <a:extLst>
                <a:ext uri="{FF2B5EF4-FFF2-40B4-BE49-F238E27FC236}">
                  <a16:creationId xmlns:a16="http://schemas.microsoft.com/office/drawing/2014/main" id="{9C292032-4BD9-73F6-2DAA-58873529E352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sz="1200"/>
                <a:t>Digital Client Signatures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67CD916-A5B9-C1E3-E477-588266771B17}"/>
              </a:ext>
            </a:extLst>
          </p:cNvPr>
          <p:cNvGrpSpPr/>
          <p:nvPr/>
        </p:nvGrpSpPr>
        <p:grpSpPr>
          <a:xfrm>
            <a:off x="8068667" y="2162048"/>
            <a:ext cx="1580416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9D7DBE8D-4A71-DDA7-9341-18CA4DD5727C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Arrow: Chevron 4">
              <a:extLst>
                <a:ext uri="{FF2B5EF4-FFF2-40B4-BE49-F238E27FC236}">
                  <a16:creationId xmlns:a16="http://schemas.microsoft.com/office/drawing/2014/main" id="{ACA57BBD-106A-1440-60F0-EDC65BDA13AD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sz="1200"/>
                <a:t>Lot Numbers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519DC61-57D3-148E-87B7-A7FC170699D8}"/>
              </a:ext>
            </a:extLst>
          </p:cNvPr>
          <p:cNvGrpSpPr/>
          <p:nvPr/>
        </p:nvGrpSpPr>
        <p:grpSpPr>
          <a:xfrm>
            <a:off x="9798645" y="2844072"/>
            <a:ext cx="1750755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70" name="Arrow: Chevron 69">
              <a:extLst>
                <a:ext uri="{FF2B5EF4-FFF2-40B4-BE49-F238E27FC236}">
                  <a16:creationId xmlns:a16="http://schemas.microsoft.com/office/drawing/2014/main" id="{95BA0875-013A-D173-6229-81C1BE5ECCFF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Arrow: Chevron 4">
              <a:extLst>
                <a:ext uri="{FF2B5EF4-FFF2-40B4-BE49-F238E27FC236}">
                  <a16:creationId xmlns:a16="http://schemas.microsoft.com/office/drawing/2014/main" id="{B314C34D-C1E0-5F69-3251-1D202E58C6CB}"/>
                </a:ext>
              </a:extLst>
            </p:cNvPr>
            <p:cNvSpPr txBox="1"/>
            <p:nvPr/>
          </p:nvSpPr>
          <p:spPr>
            <a:xfrm>
              <a:off x="582613" y="2129102"/>
              <a:ext cx="1921498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sz="1200"/>
                <a:t>OVPP Driver Data Entry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A2FEB38-3DCA-E887-661F-32413CF7DFE7}"/>
              </a:ext>
            </a:extLst>
          </p:cNvPr>
          <p:cNvGrpSpPr/>
          <p:nvPr/>
        </p:nvGrpSpPr>
        <p:grpSpPr>
          <a:xfrm>
            <a:off x="2508344" y="2088500"/>
            <a:ext cx="1523161" cy="500334"/>
            <a:chOff x="2381" y="2129102"/>
            <a:chExt cx="2901156" cy="1160462"/>
          </a:xfrm>
          <a:solidFill>
            <a:srgbClr val="6C0633">
              <a:alpha val="50196"/>
            </a:srgbClr>
          </a:solidFill>
        </p:grpSpPr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3B21D5BD-7F61-F168-C39C-B4A1AA8C1FA2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Arrow: Chevron 4">
              <a:extLst>
                <a:ext uri="{FF2B5EF4-FFF2-40B4-BE49-F238E27FC236}">
                  <a16:creationId xmlns:a16="http://schemas.microsoft.com/office/drawing/2014/main" id="{DEB13F78-AF89-3037-0D2D-C4EE1BA62F74}"/>
                </a:ext>
              </a:extLst>
            </p:cNvPr>
            <p:cNvSpPr txBox="1"/>
            <p:nvPr/>
          </p:nvSpPr>
          <p:spPr>
            <a:xfrm>
              <a:off x="340074" y="2129102"/>
              <a:ext cx="2469246" cy="1160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sz="1200"/>
                <a:t>Digitize Lab Tests and SPR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6CFC228-B397-8F03-4882-A1AB8829C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216" y="5197"/>
            <a:ext cx="2354784" cy="13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77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92F1-158C-62E0-D615-49F26F8A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F24CA-58D0-461E-9290-B7B7AD468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F24CA-38E5-C6D7-BA9E-E1885DAAD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98" y="0"/>
            <a:ext cx="11812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6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552C-1355-6D9B-54E9-B2899E8A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FF4927-1A05-CE96-14E6-C138553DF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46" y="0"/>
            <a:ext cx="10979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7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0092"/>
          </a:xfrm>
        </p:spPr>
        <p:txBody>
          <a:bodyPr/>
          <a:lstStyle/>
          <a:p>
            <a:r>
              <a:rPr lang="en-CA"/>
              <a:t>Job Design Tool – Major Parts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BB7B76-4FC5-4C13-A293-0E4749245416}"/>
              </a:ext>
            </a:extLst>
          </p:cNvPr>
          <p:cNvSpPr/>
          <p:nvPr/>
        </p:nvSpPr>
        <p:spPr>
          <a:xfrm>
            <a:off x="2348603" y="1470990"/>
            <a:ext cx="2309191" cy="13255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Input Tool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258A2F-2089-7172-CF20-4CF20B939789}"/>
              </a:ext>
            </a:extLst>
          </p:cNvPr>
          <p:cNvSpPr/>
          <p:nvPr/>
        </p:nvSpPr>
        <p:spPr>
          <a:xfrm>
            <a:off x="4824496" y="1470989"/>
            <a:ext cx="2309191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Output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73A22B-4A56-9932-7B83-6A3E2850122F}"/>
              </a:ext>
            </a:extLst>
          </p:cNvPr>
          <p:cNvSpPr/>
          <p:nvPr/>
        </p:nvSpPr>
        <p:spPr>
          <a:xfrm>
            <a:off x="7330509" y="1457947"/>
            <a:ext cx="2309191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Costing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905359-D7BD-254A-E0D1-4EBFFFB4233A}"/>
              </a:ext>
            </a:extLst>
          </p:cNvPr>
          <p:cNvSpPr/>
          <p:nvPr/>
        </p:nvSpPr>
        <p:spPr>
          <a:xfrm>
            <a:off x="9843245" y="1470989"/>
            <a:ext cx="2094078" cy="43198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Integration with Engineering Data Sources:</a:t>
            </a:r>
          </a:p>
          <a:p>
            <a:pPr algn="ctr"/>
            <a:r>
              <a:rPr lang="en-CA"/>
              <a:t>Lab database</a:t>
            </a:r>
          </a:p>
          <a:p>
            <a:pPr algn="ctr"/>
            <a:r>
              <a:rPr lang="en-CA"/>
              <a:t>Returns and Excess</a:t>
            </a:r>
          </a:p>
          <a:p>
            <a:pPr algn="ctr"/>
            <a:r>
              <a:rPr lang="en-CA"/>
              <a:t>SCVF</a:t>
            </a:r>
          </a:p>
          <a:p>
            <a:pPr algn="ctr"/>
            <a:r>
              <a:rPr lang="en-CA"/>
              <a:t>Product Inventory</a:t>
            </a:r>
          </a:p>
          <a:p>
            <a:pPr algn="ctr"/>
            <a:r>
              <a:rPr lang="en-CA"/>
              <a:t>Frac gradient</a:t>
            </a:r>
          </a:p>
          <a:p>
            <a:pPr algn="ctr"/>
            <a:endParaRPr lang="en-C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F3D664-C639-F10E-FB2B-025C3B4A8AA9}"/>
              </a:ext>
            </a:extLst>
          </p:cNvPr>
          <p:cNvSpPr/>
          <p:nvPr/>
        </p:nvSpPr>
        <p:spPr>
          <a:xfrm>
            <a:off x="2348603" y="3020681"/>
            <a:ext cx="2309191" cy="1232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Export to Other Digital Processes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635717-3702-B6AE-AC12-D03142AEEA20}"/>
              </a:ext>
            </a:extLst>
          </p:cNvPr>
          <p:cNvSpPr/>
          <p:nvPr/>
        </p:nvSpPr>
        <p:spPr>
          <a:xfrm>
            <a:off x="4824496" y="3020681"/>
            <a:ext cx="2309191" cy="12324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Well Diagram Builder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5E0CE7-5DC0-1CD9-1060-9977E310042C}"/>
              </a:ext>
            </a:extLst>
          </p:cNvPr>
          <p:cNvSpPr/>
          <p:nvPr/>
        </p:nvSpPr>
        <p:spPr>
          <a:xfrm>
            <a:off x="7330508" y="3001825"/>
            <a:ext cx="2309191" cy="1232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Complexity Matrix – Risk Score Calculator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B578AE-6957-FC8C-11C9-E6788CFFF024}"/>
              </a:ext>
            </a:extLst>
          </p:cNvPr>
          <p:cNvSpPr/>
          <p:nvPr/>
        </p:nvSpPr>
        <p:spPr>
          <a:xfrm>
            <a:off x="2352614" y="4558402"/>
            <a:ext cx="2309191" cy="1232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Risk Mitigation Step Selector (CWOP, field blend testing)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22D03A-5C94-1B3D-F781-EE6860CFEA7F}"/>
              </a:ext>
            </a:extLst>
          </p:cNvPr>
          <p:cNvSpPr/>
          <p:nvPr/>
        </p:nvSpPr>
        <p:spPr>
          <a:xfrm>
            <a:off x="4825833" y="4558403"/>
            <a:ext cx="2309191" cy="12324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Lab Test Request Tool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BBEAB2-673B-CF05-0CFB-7E63726F5565}"/>
              </a:ext>
            </a:extLst>
          </p:cNvPr>
          <p:cNvSpPr/>
          <p:nvPr/>
        </p:nvSpPr>
        <p:spPr>
          <a:xfrm>
            <a:off x="7330508" y="4545361"/>
            <a:ext cx="2309191" cy="1232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Import from other Digital Processes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C9E4E3-FC8E-2AF9-4C0A-1E6E255171E2}"/>
              </a:ext>
            </a:extLst>
          </p:cNvPr>
          <p:cNvSpPr/>
          <p:nvPr/>
        </p:nvSpPr>
        <p:spPr>
          <a:xfrm>
            <a:off x="200887" y="1458117"/>
            <a:ext cx="1972997" cy="43198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workflow management</a:t>
            </a:r>
          </a:p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300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0092"/>
          </a:xfrm>
        </p:spPr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BB7B76-4FC5-4C13-A293-0E4749245416}"/>
              </a:ext>
            </a:extLst>
          </p:cNvPr>
          <p:cNvSpPr/>
          <p:nvPr/>
        </p:nvSpPr>
        <p:spPr>
          <a:xfrm>
            <a:off x="2348603" y="1470990"/>
            <a:ext cx="2309191" cy="13255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Input Tool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258A2F-2089-7172-CF20-4CF20B939789}"/>
              </a:ext>
            </a:extLst>
          </p:cNvPr>
          <p:cNvSpPr/>
          <p:nvPr/>
        </p:nvSpPr>
        <p:spPr>
          <a:xfrm>
            <a:off x="4824496" y="1470989"/>
            <a:ext cx="2309191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Output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73A22B-4A56-9932-7B83-6A3E2850122F}"/>
              </a:ext>
            </a:extLst>
          </p:cNvPr>
          <p:cNvSpPr/>
          <p:nvPr/>
        </p:nvSpPr>
        <p:spPr>
          <a:xfrm>
            <a:off x="7330509" y="1457947"/>
            <a:ext cx="2309191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Costing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635717-3702-B6AE-AC12-D03142AEEA20}"/>
              </a:ext>
            </a:extLst>
          </p:cNvPr>
          <p:cNvSpPr/>
          <p:nvPr/>
        </p:nvSpPr>
        <p:spPr>
          <a:xfrm>
            <a:off x="4824496" y="3020681"/>
            <a:ext cx="2309191" cy="12324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Well Diagram Builder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22D03A-5C94-1B3D-F781-EE6860CFEA7F}"/>
              </a:ext>
            </a:extLst>
          </p:cNvPr>
          <p:cNvSpPr/>
          <p:nvPr/>
        </p:nvSpPr>
        <p:spPr>
          <a:xfrm>
            <a:off x="4825833" y="4558403"/>
            <a:ext cx="2309191" cy="12324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Lab Test Request Tool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C9E4E3-FC8E-2AF9-4C0A-1E6E255171E2}"/>
              </a:ext>
            </a:extLst>
          </p:cNvPr>
          <p:cNvSpPr/>
          <p:nvPr/>
        </p:nvSpPr>
        <p:spPr>
          <a:xfrm>
            <a:off x="200887" y="1458117"/>
            <a:ext cx="1972997" cy="13384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Program workflow management</a:t>
            </a:r>
          </a:p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13624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4CB51-65FA-DE29-226D-7E7772FF6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3658" y="1393598"/>
            <a:ext cx="4495801" cy="465364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Value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Engineering work management – traceability for APEGA &amp; EGBC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Visibility of who/when/type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Engineers focused on engineering, not data entry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Job design enhancement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Increased integration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Job design consistency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Simplified costing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More visibility of trends and competitor benchmarks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Efficient PC/PR targeting – trends over time instead of snapshot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Faster and improved communication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Know stage of job design process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12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803D84-9A28-07E4-8D21-D03AB0C18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97685" y="1398814"/>
            <a:ext cx="3080657" cy="4351338"/>
          </a:xfrm>
        </p:spPr>
        <p:txBody>
          <a:bodyPr>
            <a:normAutofit/>
          </a:bodyPr>
          <a:lstStyle/>
          <a:p>
            <a:r>
              <a:rPr lang="en-US" sz="1200" dirty="0"/>
              <a:t>Ownership – define the decision makers</a:t>
            </a:r>
          </a:p>
          <a:p>
            <a:pPr lvl="1"/>
            <a:r>
              <a:rPr lang="en-US" sz="1200" dirty="0"/>
              <a:t>Workflow Management: </a:t>
            </a:r>
          </a:p>
          <a:p>
            <a:pPr lvl="2"/>
            <a:r>
              <a:rPr lang="en-US" sz="1200" dirty="0"/>
              <a:t>Jeremy</a:t>
            </a:r>
          </a:p>
          <a:p>
            <a:pPr lvl="1"/>
            <a:r>
              <a:rPr lang="en-US" sz="1200" dirty="0"/>
              <a:t>Input tool: </a:t>
            </a:r>
          </a:p>
          <a:p>
            <a:pPr lvl="2"/>
            <a:r>
              <a:rPr lang="en-US" sz="1200" dirty="0"/>
              <a:t>Jeremy</a:t>
            </a:r>
          </a:p>
          <a:p>
            <a:pPr lvl="1"/>
            <a:r>
              <a:rPr lang="en-US" sz="1200" dirty="0"/>
              <a:t>Design output</a:t>
            </a:r>
          </a:p>
          <a:p>
            <a:pPr lvl="2"/>
            <a:r>
              <a:rPr lang="en-US" sz="1200" dirty="0"/>
              <a:t>Content: Jeremy</a:t>
            </a:r>
          </a:p>
          <a:p>
            <a:pPr lvl="2"/>
            <a:r>
              <a:rPr lang="en-US" sz="1200" dirty="0"/>
              <a:t>Look &amp; Feel: Kevin and Brett H. and Lauren as consultant</a:t>
            </a:r>
          </a:p>
          <a:p>
            <a:pPr lvl="1"/>
            <a:r>
              <a:rPr lang="en-US" sz="1200" dirty="0"/>
              <a:t>Well Diagram:</a:t>
            </a:r>
          </a:p>
          <a:p>
            <a:pPr lvl="2"/>
            <a:r>
              <a:rPr lang="en-US" sz="1200" dirty="0"/>
              <a:t>Jeremy </a:t>
            </a:r>
          </a:p>
          <a:p>
            <a:pPr lvl="1"/>
            <a:r>
              <a:rPr lang="en-US" sz="1200" dirty="0"/>
              <a:t>Lab Test Request:</a:t>
            </a:r>
          </a:p>
          <a:p>
            <a:pPr lvl="2"/>
            <a:r>
              <a:rPr lang="en-US" sz="1200" dirty="0"/>
              <a:t>Jeremy &amp; Ryan</a:t>
            </a:r>
          </a:p>
          <a:p>
            <a:pPr lvl="1"/>
            <a:r>
              <a:rPr lang="en-US" sz="1200" dirty="0"/>
              <a:t>Costing:</a:t>
            </a:r>
          </a:p>
          <a:p>
            <a:pPr lvl="2"/>
            <a:r>
              <a:rPr lang="en-US" sz="1200" dirty="0"/>
              <a:t>Kevin</a:t>
            </a:r>
          </a:p>
          <a:p>
            <a:pPr lvl="1"/>
            <a:endParaRPr lang="en-US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EFA49A-461C-241E-6869-92FA20BD9148}"/>
              </a:ext>
            </a:extLst>
          </p:cNvPr>
          <p:cNvSpPr txBox="1">
            <a:spLocks/>
          </p:cNvSpPr>
          <p:nvPr/>
        </p:nvSpPr>
        <p:spPr>
          <a:xfrm>
            <a:off x="4435930" y="1393598"/>
            <a:ext cx="4495801" cy="465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Value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Complexity Matrix Workflow prerequisite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Ease of use allowing the right person to do the right job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More defined/enhanced job &amp; material forecasting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Addition of job by job info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err="1">
                <a:latin typeface="Arial"/>
                <a:cs typeface="Calibri"/>
              </a:rPr>
              <a:t>eProgram</a:t>
            </a:r>
            <a:r>
              <a:rPr lang="en-US" sz="1200">
                <a:latin typeface="Arial"/>
                <a:cs typeface="Calibri"/>
              </a:rPr>
              <a:t>/Rig Board/Job Board/eService integration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Calibri"/>
              </a:rPr>
              <a:t>Additional details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More accurate revenue forecasting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Program by program details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Client value: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Faster program turnaround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Improved easier to read layout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>
                <a:latin typeface="Arial"/>
                <a:cs typeface="Arial"/>
              </a:rPr>
              <a:t>Risk mitigation – less errors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52699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C9E4E3-FC8E-2AF9-4C0A-1E6E255171E2}"/>
              </a:ext>
            </a:extLst>
          </p:cNvPr>
          <p:cNvSpPr/>
          <p:nvPr/>
        </p:nvSpPr>
        <p:spPr>
          <a:xfrm>
            <a:off x="838200" y="1690688"/>
            <a:ext cx="1972997" cy="4319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Workflow Management</a:t>
            </a:r>
          </a:p>
          <a:p>
            <a:pPr algn="ctr"/>
            <a:endParaRPr lang="en-CA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17372E7-2170-0950-C5A0-8F073414130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304309" y="2179499"/>
            <a:ext cx="8655627" cy="35086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View Programs, filter by Service Point, Client, Rig, Sales Project, Date, Job Type, Designer, Sales Rep, etc. - 10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 Create Program Request - 15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 Approve Program - 20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 Prioritize Program Request - 5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 Review Program - 5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 Linkage to Sales Project - 5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 Linkage to job design tool. (Currently Excel JDT) - 20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DC09280-C366-5973-8B87-7481DD871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05199"/>
            <a:ext cx="65" cy="810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938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C1106A-1401-73A7-66DA-0CADC666A555}"/>
              </a:ext>
            </a:extLst>
          </p:cNvPr>
          <p:cNvSpPr/>
          <p:nvPr/>
        </p:nvSpPr>
        <p:spPr>
          <a:xfrm>
            <a:off x="838201" y="2766218"/>
            <a:ext cx="1797423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Simulation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5F32445-2E06-6392-774C-D977A803445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44311" y="2228670"/>
            <a:ext cx="7653442" cy="24006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Feed data in </a:t>
            </a:r>
            <a:r>
              <a:rPr lang="en-US" altLang="en-US" sz="2400" dirty="0" err="1"/>
              <a:t>Cempro</a:t>
            </a:r>
            <a:r>
              <a:rPr lang="en-US" altLang="en-US" sz="2400" dirty="0"/>
              <a:t> / </a:t>
            </a:r>
            <a:r>
              <a:rPr lang="en-US" altLang="en-US" sz="2400" dirty="0" err="1"/>
              <a:t>Cementics</a:t>
            </a:r>
            <a:r>
              <a:rPr lang="en-US" altLang="en-US" sz="2400" dirty="0"/>
              <a:t> for simulation - 40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Export data from </a:t>
            </a:r>
            <a:r>
              <a:rPr lang="en-US" altLang="en-US" sz="2400" dirty="0" err="1"/>
              <a:t>Cempro</a:t>
            </a:r>
            <a:r>
              <a:rPr lang="en-US" altLang="en-US" sz="2400" dirty="0"/>
              <a:t> for job design improvement -20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Well Diagram generation –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Need to explore </a:t>
            </a:r>
            <a:r>
              <a:rPr lang="en-US" altLang="en-US" sz="2400" dirty="0" err="1"/>
              <a:t>Cementics</a:t>
            </a:r>
            <a:r>
              <a:rPr lang="en-US" altLang="en-US" sz="2400" dirty="0"/>
              <a:t> – where does this fit?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14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4BFD-4FC6-9CF6-0D79-FCF3A21C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55171" y="2400300"/>
            <a:ext cx="7907237" cy="3377045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Import from stick diagram (Research needed) -30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Urgency is nice to have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Can work with </a:t>
            </a:r>
            <a:r>
              <a:rPr lang="en-US" sz="2000"/>
              <a:t>a timeframe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Mange engineering information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 Well Information / Open Hole / Casing pipe / Formation -10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 Casing requirements -10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 Drilling Fluid -5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 Contact info -5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C1106A-1401-73A7-66DA-0CADC666A555}"/>
              </a:ext>
            </a:extLst>
          </p:cNvPr>
          <p:cNvSpPr/>
          <p:nvPr/>
        </p:nvSpPr>
        <p:spPr>
          <a:xfrm>
            <a:off x="838201" y="2766218"/>
            <a:ext cx="1797423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Input Tool</a:t>
            </a:r>
          </a:p>
        </p:txBody>
      </p:sp>
    </p:spTree>
    <p:extLst>
      <p:ext uri="{BB962C8B-B14F-4D97-AF65-F5344CB8AC3E}">
        <p14:creationId xmlns:p14="http://schemas.microsoft.com/office/powerpoint/2010/main" val="184739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C1106A-1401-73A7-66DA-0CADC666A555}"/>
              </a:ext>
            </a:extLst>
          </p:cNvPr>
          <p:cNvSpPr/>
          <p:nvPr/>
        </p:nvSpPr>
        <p:spPr>
          <a:xfrm>
            <a:off x="838201" y="2766218"/>
            <a:ext cx="1797423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Design Tool / Lab / Integration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73706B8-3103-726C-3DC5-79B4AD5C5E7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191021" y="2060456"/>
            <a:ext cx="3864408" cy="2031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/>
              <a:t> Volume Calculation - 20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/>
              <a:t> Excess suggestion - 10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/>
              <a:t> Blend selection –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53257B2-67F5-ABA9-5054-BC9A8B3D0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929" y="2321003"/>
            <a:ext cx="3864408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6E6A66D1-2720-273B-1DF6-6333F5FC7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0119" y="1767005"/>
            <a:ext cx="4686299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/>
              <a:t> Sales Forecast/OPS Forecast consolidation - 20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/>
              <a:t> Lab Database integration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Test Request creation - 10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Blend Selection - 20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41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4BFD-4FC6-9CF6-0D79-FCF3A21C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29262" y="1690688"/>
            <a:ext cx="4356845" cy="4486275"/>
          </a:xfrm>
        </p:spPr>
        <p:txBody>
          <a:bodyPr>
            <a:normAutofit/>
          </a:bodyPr>
          <a:lstStyle/>
          <a:p>
            <a:r>
              <a:rPr lang="en-US"/>
              <a:t>Client facing document</a:t>
            </a:r>
          </a:p>
          <a:p>
            <a:pPr lvl="1"/>
            <a:r>
              <a:rPr lang="en-US"/>
              <a:t>Create per job type:</a:t>
            </a:r>
          </a:p>
          <a:p>
            <a:pPr lvl="2"/>
            <a:r>
              <a:rPr lang="en-US"/>
              <a:t>Well Profile</a:t>
            </a:r>
          </a:p>
          <a:p>
            <a:pPr lvl="2"/>
            <a:r>
              <a:rPr lang="en-US"/>
              <a:t>Product summary</a:t>
            </a:r>
          </a:p>
          <a:p>
            <a:pPr lvl="2"/>
            <a:r>
              <a:rPr lang="en-US"/>
              <a:t>Blend(s) &amp; Additive(s)</a:t>
            </a:r>
          </a:p>
          <a:p>
            <a:pPr lvl="2"/>
            <a:r>
              <a:rPr lang="en-US"/>
              <a:t>Equipment list</a:t>
            </a:r>
          </a:p>
          <a:p>
            <a:pPr lvl="2"/>
            <a:r>
              <a:rPr lang="en-US"/>
              <a:t>Expected pressure</a:t>
            </a:r>
          </a:p>
          <a:p>
            <a:pPr lvl="3"/>
            <a:r>
              <a:rPr lang="en-US"/>
              <a:t>Calc or sim?</a:t>
            </a:r>
          </a:p>
          <a:p>
            <a:pPr lvl="2"/>
            <a:r>
              <a:rPr lang="en-US"/>
              <a:t>Procedures</a:t>
            </a:r>
          </a:p>
          <a:p>
            <a:pPr lvl="2"/>
            <a:r>
              <a:rPr lang="en-US"/>
              <a:t>Key Instructions &amp; highlights?</a:t>
            </a:r>
          </a:p>
          <a:p>
            <a:pPr lvl="2"/>
            <a:r>
              <a:rPr lang="en-US"/>
              <a:t>Quality page?</a:t>
            </a:r>
          </a:p>
          <a:p>
            <a:pPr lvl="2"/>
            <a:endParaRPr lang="en-US"/>
          </a:p>
          <a:p>
            <a:pPr lvl="1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7BD0B6-0A53-A892-E5E2-E78453652A62}"/>
              </a:ext>
            </a:extLst>
          </p:cNvPr>
          <p:cNvSpPr/>
          <p:nvPr/>
        </p:nvSpPr>
        <p:spPr>
          <a:xfrm>
            <a:off x="838199" y="2766218"/>
            <a:ext cx="1765152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Output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6C6AED9-56BE-B422-8CFE-8E44C7435B70}"/>
              </a:ext>
            </a:extLst>
          </p:cNvPr>
          <p:cNvSpPr txBox="1">
            <a:spLocks/>
          </p:cNvSpPr>
          <p:nvPr/>
        </p:nvSpPr>
        <p:spPr>
          <a:xfrm>
            <a:off x="7412018" y="1690688"/>
            <a:ext cx="4356845" cy="4486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Ability to create procedures that can be sent to a client (without pricing)</a:t>
            </a:r>
          </a:p>
          <a:p>
            <a:r>
              <a:rPr lang="en-US"/>
              <a:t>Ways to save specific procedures….</a:t>
            </a:r>
          </a:p>
          <a:p>
            <a:pPr lvl="1"/>
            <a:r>
              <a:rPr lang="en-US"/>
              <a:t>Client specific</a:t>
            </a:r>
          </a:p>
          <a:p>
            <a:pPr lvl="1"/>
            <a:r>
              <a:rPr lang="en-US"/>
              <a:t>Area specific</a:t>
            </a:r>
          </a:p>
          <a:p>
            <a:pPr lvl="1"/>
            <a:r>
              <a:rPr lang="en-US"/>
              <a:t>Special job types</a:t>
            </a:r>
          </a:p>
          <a:p>
            <a:pPr lvl="1"/>
            <a:r>
              <a:rPr lang="en-US"/>
              <a:t>Ability to select the desired procedure</a:t>
            </a:r>
          </a:p>
          <a:p>
            <a:r>
              <a:rPr lang="en-US"/>
              <a:t>How to create multiple options without writing an entire new program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3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4BFD-4FC6-9CF6-0D79-FCF3A21C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68662" y="1690688"/>
            <a:ext cx="4378811" cy="4486275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Easy way for sales to get data into the system</a:t>
            </a:r>
          </a:p>
          <a:p>
            <a:r>
              <a:rPr lang="en-US"/>
              <a:t>Tool to manage:</a:t>
            </a:r>
          </a:p>
          <a:p>
            <a:pPr lvl="1"/>
            <a:r>
              <a:rPr lang="en-US"/>
              <a:t>Request(s)</a:t>
            </a:r>
          </a:p>
          <a:p>
            <a:pPr lvl="2"/>
            <a:r>
              <a:rPr lang="en-US"/>
              <a:t>Prioritize</a:t>
            </a:r>
          </a:p>
          <a:p>
            <a:pPr lvl="2"/>
            <a:r>
              <a:rPr lang="en-US"/>
              <a:t>Assign</a:t>
            </a:r>
          </a:p>
          <a:p>
            <a:pPr lvl="1"/>
            <a:r>
              <a:rPr lang="en-US"/>
              <a:t>Acknowledgement</a:t>
            </a:r>
          </a:p>
          <a:p>
            <a:pPr lvl="1"/>
            <a:r>
              <a:rPr lang="en-US"/>
              <a:t>Completion</a:t>
            </a:r>
          </a:p>
          <a:p>
            <a:pPr lvl="1"/>
            <a:r>
              <a:rPr lang="en-US"/>
              <a:t>Review – peer &amp; senior</a:t>
            </a:r>
          </a:p>
          <a:p>
            <a:pPr lvl="1"/>
            <a:r>
              <a:rPr lang="en-US"/>
              <a:t>Approval - mgt</a:t>
            </a:r>
          </a:p>
          <a:p>
            <a:r>
              <a:rPr lang="en-US"/>
              <a:t>Incorporate Complexity Matrix Details</a:t>
            </a:r>
          </a:p>
          <a:p>
            <a:r>
              <a:rPr lang="en-US"/>
              <a:t>Linkage to Sales Forecast</a:t>
            </a:r>
          </a:p>
          <a:p>
            <a:pPr lvl="1"/>
            <a:r>
              <a:rPr lang="en-US"/>
              <a:t>Maintain latest revision in SF and </a:t>
            </a:r>
            <a:r>
              <a:rPr lang="en-US" err="1"/>
              <a:t>OpsF</a:t>
            </a:r>
            <a:endParaRPr lang="en-US"/>
          </a:p>
          <a:p>
            <a:pPr lvl="1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C9E4E3-FC8E-2AF9-4C0A-1E6E255171E2}"/>
              </a:ext>
            </a:extLst>
          </p:cNvPr>
          <p:cNvSpPr/>
          <p:nvPr/>
        </p:nvSpPr>
        <p:spPr>
          <a:xfrm>
            <a:off x="838200" y="1690688"/>
            <a:ext cx="1972997" cy="43198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Workflow Management</a:t>
            </a:r>
          </a:p>
          <a:p>
            <a:pPr algn="ctr"/>
            <a:endParaRPr lang="en-CA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9D4D723-A30C-CF5D-D159-F1B07F2FAAC4}"/>
              </a:ext>
            </a:extLst>
          </p:cNvPr>
          <p:cNvSpPr txBox="1">
            <a:spLocks/>
          </p:cNvSpPr>
          <p:nvPr/>
        </p:nvSpPr>
        <p:spPr>
          <a:xfrm>
            <a:off x="7347473" y="1690688"/>
            <a:ext cx="4378811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Add details to SF</a:t>
            </a:r>
          </a:p>
          <a:p>
            <a:pPr lvl="1"/>
            <a:r>
              <a:rPr lang="en-US"/>
              <a:t>Addition of programs to a project</a:t>
            </a:r>
          </a:p>
          <a:p>
            <a:pPr lvl="1"/>
            <a:r>
              <a:rPr lang="en-US"/>
              <a:t>Program per well</a:t>
            </a:r>
          </a:p>
          <a:p>
            <a:pPr lvl="1"/>
            <a:r>
              <a:rPr lang="en-US"/>
              <a:t>Defining pad(s) per project</a:t>
            </a:r>
          </a:p>
          <a:p>
            <a:r>
              <a:rPr lang="en-US"/>
              <a:t>Ops Forecast</a:t>
            </a:r>
          </a:p>
          <a:p>
            <a:pPr lvl="1"/>
            <a:r>
              <a:rPr lang="en-US" err="1"/>
              <a:t>Multiwell</a:t>
            </a:r>
            <a:r>
              <a:rPr lang="en-US"/>
              <a:t> programs</a:t>
            </a:r>
          </a:p>
          <a:p>
            <a:pPr lvl="1"/>
            <a:r>
              <a:rPr lang="en-US"/>
              <a:t>Individual programs </a:t>
            </a:r>
          </a:p>
          <a:p>
            <a:pPr lvl="2"/>
            <a:r>
              <a:rPr lang="en-US"/>
              <a:t>Pad work</a:t>
            </a:r>
          </a:p>
          <a:p>
            <a:pPr lvl="1"/>
            <a:r>
              <a:rPr lang="en-US"/>
              <a:t>Link proper job to program in ops forecast – 1 to 1</a:t>
            </a:r>
          </a:p>
        </p:txBody>
      </p:sp>
    </p:spTree>
    <p:extLst>
      <p:ext uri="{BB962C8B-B14F-4D97-AF65-F5344CB8AC3E}">
        <p14:creationId xmlns:p14="http://schemas.microsoft.com/office/powerpoint/2010/main" val="2689015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4BFD-4FC6-9CF6-0D79-FCF3A21C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55172" y="1690688"/>
            <a:ext cx="4507453" cy="4486275"/>
          </a:xfrm>
        </p:spPr>
        <p:txBody>
          <a:bodyPr>
            <a:normAutofit lnSpcReduction="10000"/>
          </a:bodyPr>
          <a:lstStyle/>
          <a:p>
            <a:r>
              <a:rPr lang="en-US"/>
              <a:t>Update fluid database</a:t>
            </a:r>
          </a:p>
          <a:p>
            <a:pPr lvl="1"/>
            <a:r>
              <a:rPr lang="en-US"/>
              <a:t>This is CEMPRO</a:t>
            </a:r>
          </a:p>
          <a:p>
            <a:pPr lvl="1"/>
            <a:r>
              <a:rPr lang="en-US"/>
              <a:t>Update and share file</a:t>
            </a:r>
          </a:p>
          <a:p>
            <a:r>
              <a:rPr lang="en-US"/>
              <a:t>Temperatures</a:t>
            </a:r>
          </a:p>
          <a:p>
            <a:pPr lvl="1"/>
            <a:r>
              <a:rPr lang="en-US"/>
              <a:t>Which temps to use?</a:t>
            </a:r>
          </a:p>
          <a:p>
            <a:pPr lvl="2"/>
            <a:r>
              <a:rPr lang="en-US"/>
              <a:t>Calc vs sim</a:t>
            </a:r>
          </a:p>
          <a:p>
            <a:r>
              <a:rPr lang="en-US"/>
              <a:t>Pressure</a:t>
            </a:r>
          </a:p>
          <a:p>
            <a:pPr lvl="1"/>
            <a:r>
              <a:rPr lang="en-US"/>
              <a:t>Bring in pump pressure chart?</a:t>
            </a:r>
          </a:p>
          <a:p>
            <a:r>
              <a:rPr lang="en-US"/>
              <a:t>What other info do we want to bring in?</a:t>
            </a:r>
          </a:p>
          <a:p>
            <a:pPr lvl="2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C1106A-1401-73A7-66DA-0CADC666A555}"/>
              </a:ext>
            </a:extLst>
          </p:cNvPr>
          <p:cNvSpPr/>
          <p:nvPr/>
        </p:nvSpPr>
        <p:spPr>
          <a:xfrm>
            <a:off x="838201" y="2766218"/>
            <a:ext cx="1797423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Simulation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CB97C653-7676-055F-A3D7-7701C8252AAA}"/>
              </a:ext>
            </a:extLst>
          </p:cNvPr>
          <p:cNvSpPr txBox="1">
            <a:spLocks/>
          </p:cNvSpPr>
          <p:nvPr/>
        </p:nvSpPr>
        <p:spPr>
          <a:xfrm>
            <a:off x="7562625" y="1690688"/>
            <a:ext cx="4507453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Save as CP1 file</a:t>
            </a:r>
          </a:p>
          <a:p>
            <a:r>
              <a:rPr lang="en-US"/>
              <a:t>Can open with notepad</a:t>
            </a:r>
          </a:p>
          <a:p>
            <a:r>
              <a:rPr lang="en-US"/>
              <a:t>Capture well diagram</a:t>
            </a:r>
          </a:p>
          <a:p>
            <a:pPr lvl="1"/>
            <a:r>
              <a:rPr lang="en-US"/>
              <a:t>Which one?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3573FD-EE3A-44CC-56EF-E437F89D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366" y="3667225"/>
            <a:ext cx="1849417" cy="137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90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4BFD-4FC6-9CF6-0D79-FCF3A21C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55172" y="1690688"/>
            <a:ext cx="4507453" cy="44862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Start with simulation</a:t>
            </a:r>
          </a:p>
          <a:p>
            <a:pPr lvl="1"/>
            <a:r>
              <a:rPr lang="en-US" dirty="0"/>
              <a:t>Import sim file</a:t>
            </a:r>
          </a:p>
          <a:p>
            <a:r>
              <a:rPr lang="en-US" dirty="0"/>
              <a:t>Validate</a:t>
            </a:r>
          </a:p>
          <a:p>
            <a:pPr lvl="1"/>
            <a:r>
              <a:rPr lang="en-US" dirty="0"/>
              <a:t>Products &amp; Additives</a:t>
            </a:r>
          </a:p>
          <a:p>
            <a:pPr lvl="1"/>
            <a:r>
              <a:rPr lang="en-US" dirty="0"/>
              <a:t>Performance criteria</a:t>
            </a:r>
          </a:p>
          <a:p>
            <a:r>
              <a:rPr lang="en-US" dirty="0"/>
              <a:t>Ability to reuse any part</a:t>
            </a:r>
          </a:p>
          <a:p>
            <a:pPr lvl="1"/>
            <a:r>
              <a:rPr lang="en-US" dirty="0"/>
              <a:t>Well profile</a:t>
            </a:r>
          </a:p>
          <a:p>
            <a:pPr lvl="1"/>
            <a:r>
              <a:rPr lang="en-US" dirty="0"/>
              <a:t>Client &amp; well profile</a:t>
            </a:r>
          </a:p>
          <a:p>
            <a:pPr lvl="1"/>
            <a:r>
              <a:rPr lang="en-US" dirty="0"/>
              <a:t>Blends?</a:t>
            </a:r>
          </a:p>
          <a:p>
            <a:pPr lvl="2"/>
            <a:r>
              <a:rPr lang="en-US" dirty="0"/>
              <a:t>Add in sim or input tool?</a:t>
            </a:r>
          </a:p>
          <a:p>
            <a:pPr lvl="1"/>
            <a:r>
              <a:rPr lang="en-US" dirty="0"/>
              <a:t>Additives?</a:t>
            </a:r>
          </a:p>
          <a:p>
            <a:pPr lvl="2"/>
            <a:r>
              <a:rPr lang="en-US" dirty="0"/>
              <a:t>Add in sim or input tool?</a:t>
            </a:r>
          </a:p>
          <a:p>
            <a:pPr lvl="2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C1106A-1401-73A7-66DA-0CADC666A555}"/>
              </a:ext>
            </a:extLst>
          </p:cNvPr>
          <p:cNvSpPr/>
          <p:nvPr/>
        </p:nvSpPr>
        <p:spPr>
          <a:xfrm>
            <a:off x="838201" y="2766218"/>
            <a:ext cx="1797423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Input Tool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CB97C653-7676-055F-A3D7-7701C8252AAA}"/>
              </a:ext>
            </a:extLst>
          </p:cNvPr>
          <p:cNvSpPr txBox="1">
            <a:spLocks/>
          </p:cNvSpPr>
          <p:nvPr/>
        </p:nvSpPr>
        <p:spPr>
          <a:xfrm>
            <a:off x="7562625" y="1690688"/>
            <a:ext cx="4507453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600" dirty="0"/>
              <a:t>Volume/Blends/Additives from where?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Depths or changes are required – where does this happen?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Is recalculation required?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Modifications where?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Integration to lab </a:t>
            </a:r>
            <a:r>
              <a:rPr lang="en-US" sz="2200" dirty="0" err="1"/>
              <a:t>db</a:t>
            </a:r>
            <a:endParaRPr lang="en-US" sz="2200" dirty="0"/>
          </a:p>
          <a:p>
            <a:pPr>
              <a:lnSpc>
                <a:spcPct val="80000"/>
              </a:lnSpc>
            </a:pPr>
            <a:r>
              <a:rPr lang="en-US" sz="2600" dirty="0"/>
              <a:t>When opening sim, how to choose an option?</a:t>
            </a:r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C81F61-E449-E35C-3E87-BFDA45809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964" y="5353896"/>
            <a:ext cx="1838582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2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4BFD-4FC6-9CF6-0D79-FCF3A21C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29262" y="1690688"/>
            <a:ext cx="4356845" cy="4486275"/>
          </a:xfrm>
        </p:spPr>
        <p:txBody>
          <a:bodyPr>
            <a:normAutofit/>
          </a:bodyPr>
          <a:lstStyle/>
          <a:p>
            <a:r>
              <a:rPr lang="en-US"/>
              <a:t>Client facing document</a:t>
            </a:r>
          </a:p>
          <a:p>
            <a:pPr lvl="1"/>
            <a:r>
              <a:rPr lang="en-US"/>
              <a:t>Create per job type:</a:t>
            </a:r>
          </a:p>
          <a:p>
            <a:pPr lvl="2"/>
            <a:r>
              <a:rPr lang="en-US"/>
              <a:t>Well Profile</a:t>
            </a:r>
          </a:p>
          <a:p>
            <a:pPr lvl="2"/>
            <a:r>
              <a:rPr lang="en-US"/>
              <a:t>Product summary</a:t>
            </a:r>
          </a:p>
          <a:p>
            <a:pPr lvl="2"/>
            <a:r>
              <a:rPr lang="en-US"/>
              <a:t>Blend(s) &amp; Additive(s)</a:t>
            </a:r>
          </a:p>
          <a:p>
            <a:pPr lvl="2"/>
            <a:r>
              <a:rPr lang="en-US"/>
              <a:t>Equipment list</a:t>
            </a:r>
          </a:p>
          <a:p>
            <a:pPr lvl="2"/>
            <a:r>
              <a:rPr lang="en-US"/>
              <a:t>Expected pressure</a:t>
            </a:r>
          </a:p>
          <a:p>
            <a:pPr lvl="3"/>
            <a:r>
              <a:rPr lang="en-US"/>
              <a:t>Calc or sim?</a:t>
            </a:r>
          </a:p>
          <a:p>
            <a:pPr lvl="2"/>
            <a:r>
              <a:rPr lang="en-US"/>
              <a:t>Procedures</a:t>
            </a:r>
          </a:p>
          <a:p>
            <a:pPr lvl="2"/>
            <a:r>
              <a:rPr lang="en-US"/>
              <a:t>Key Instructions &amp; highlights?</a:t>
            </a:r>
          </a:p>
          <a:p>
            <a:pPr lvl="2"/>
            <a:r>
              <a:rPr lang="en-US"/>
              <a:t>Quality page?</a:t>
            </a:r>
          </a:p>
          <a:p>
            <a:pPr lvl="2"/>
            <a:endParaRPr lang="en-US"/>
          </a:p>
          <a:p>
            <a:pPr lvl="1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7BD0B6-0A53-A892-E5E2-E78453652A62}"/>
              </a:ext>
            </a:extLst>
          </p:cNvPr>
          <p:cNvSpPr/>
          <p:nvPr/>
        </p:nvSpPr>
        <p:spPr>
          <a:xfrm>
            <a:off x="838199" y="2766218"/>
            <a:ext cx="1765152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Output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6C6AED9-56BE-B422-8CFE-8E44C7435B70}"/>
              </a:ext>
            </a:extLst>
          </p:cNvPr>
          <p:cNvSpPr txBox="1">
            <a:spLocks/>
          </p:cNvSpPr>
          <p:nvPr/>
        </p:nvSpPr>
        <p:spPr>
          <a:xfrm>
            <a:off x="7412018" y="1690688"/>
            <a:ext cx="4356845" cy="4486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Ability to create procedures that can be sent to a client (without pricing)</a:t>
            </a:r>
          </a:p>
          <a:p>
            <a:r>
              <a:rPr lang="en-US"/>
              <a:t>Ways to save specific procedures….</a:t>
            </a:r>
          </a:p>
          <a:p>
            <a:pPr lvl="1"/>
            <a:r>
              <a:rPr lang="en-US"/>
              <a:t>Client specific</a:t>
            </a:r>
          </a:p>
          <a:p>
            <a:pPr lvl="1"/>
            <a:r>
              <a:rPr lang="en-US"/>
              <a:t>Area specific</a:t>
            </a:r>
          </a:p>
          <a:p>
            <a:pPr lvl="1"/>
            <a:r>
              <a:rPr lang="en-US"/>
              <a:t>Special job types</a:t>
            </a:r>
          </a:p>
          <a:p>
            <a:pPr lvl="1"/>
            <a:r>
              <a:rPr lang="en-US"/>
              <a:t>Ability to select the desired procedure</a:t>
            </a:r>
          </a:p>
          <a:p>
            <a:r>
              <a:rPr lang="en-US"/>
              <a:t>How to create multiple options without writing an entire new program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3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4BFD-4FC6-9CF6-0D79-FCF3A21C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07747" y="1690688"/>
            <a:ext cx="4571999" cy="4486275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Job Design Price Page</a:t>
            </a:r>
          </a:p>
          <a:p>
            <a:r>
              <a:rPr lang="en-US"/>
              <a:t>Ability to modify pricing</a:t>
            </a:r>
          </a:p>
          <a:p>
            <a:pPr lvl="1"/>
            <a:r>
              <a:rPr lang="en-US"/>
              <a:t>Product quantities?</a:t>
            </a:r>
          </a:p>
          <a:p>
            <a:pPr lvl="1"/>
            <a:r>
              <a:rPr lang="en-US"/>
              <a:t>Create client specific requirements?</a:t>
            </a:r>
          </a:p>
          <a:p>
            <a:pPr lvl="2"/>
            <a:r>
              <a:rPr lang="en-US"/>
              <a:t>E.g. Add WITS?</a:t>
            </a:r>
          </a:p>
          <a:p>
            <a:pPr lvl="1"/>
            <a:r>
              <a:rPr lang="en-US"/>
              <a:t>Area specific requirements?</a:t>
            </a:r>
          </a:p>
          <a:p>
            <a:pPr lvl="2"/>
            <a:r>
              <a:rPr lang="en-US"/>
              <a:t>E.g. Add chains?</a:t>
            </a:r>
          </a:p>
          <a:p>
            <a:r>
              <a:rPr lang="en-US"/>
              <a:t>Ability to conduct costing / inventory per product</a:t>
            </a:r>
          </a:p>
          <a:p>
            <a:r>
              <a:rPr lang="en-US"/>
              <a:t>Ability to show recent pricing by client, by area</a:t>
            </a:r>
          </a:p>
          <a:p>
            <a:r>
              <a:rPr lang="en-US"/>
              <a:t>Ability to create price with target PC/PR for products</a:t>
            </a:r>
          </a:p>
          <a:p>
            <a:pPr lvl="1"/>
            <a:r>
              <a:rPr lang="en-US"/>
              <a:t>Enter target PC/PR</a:t>
            </a:r>
          </a:p>
          <a:p>
            <a:pPr lvl="1"/>
            <a:r>
              <a:rPr lang="en-US"/>
              <a:t>Calculate product price</a:t>
            </a:r>
          </a:p>
          <a:p>
            <a:endParaRPr lang="en-US"/>
          </a:p>
          <a:p>
            <a:pPr lvl="1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7BD0B6-0A53-A892-E5E2-E78453652A62}"/>
              </a:ext>
            </a:extLst>
          </p:cNvPr>
          <p:cNvSpPr/>
          <p:nvPr/>
        </p:nvSpPr>
        <p:spPr>
          <a:xfrm>
            <a:off x="838200" y="2766218"/>
            <a:ext cx="1775908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Pricing / Costing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DB1B226D-FAD8-AF2A-2867-5B48A5FC8AC1}"/>
              </a:ext>
            </a:extLst>
          </p:cNvPr>
          <p:cNvSpPr txBox="1">
            <a:spLocks/>
          </p:cNvSpPr>
          <p:nvPr/>
        </p:nvSpPr>
        <p:spPr>
          <a:xfrm>
            <a:off x="7379746" y="1690687"/>
            <a:ext cx="4571999" cy="4486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Attached pricing to program</a:t>
            </a:r>
          </a:p>
          <a:p>
            <a:r>
              <a:rPr lang="en-US" sz="2400"/>
              <a:t>Once complete, compile client facing document for email</a:t>
            </a:r>
          </a:p>
          <a:p>
            <a:r>
              <a:rPr lang="en-US" sz="2400"/>
              <a:t>Attach document to eProgram</a:t>
            </a:r>
          </a:p>
          <a:p>
            <a:r>
              <a:rPr lang="en-US" sz="2400"/>
              <a:t>Attached document to eService Call Sheet / Job package</a:t>
            </a:r>
          </a:p>
          <a:p>
            <a:r>
              <a:rPr lang="en-US" sz="2400"/>
              <a:t>Ability to price and create client facing documents without simulation</a:t>
            </a:r>
          </a:p>
          <a:p>
            <a:pPr lvl="1"/>
            <a:r>
              <a:rPr lang="en-US" sz="2000"/>
              <a:t>What is the starting point?</a:t>
            </a:r>
          </a:p>
          <a:p>
            <a:pPr lvl="1"/>
            <a:r>
              <a:rPr lang="en-US" sz="2000"/>
              <a:t>Are there 2? </a:t>
            </a:r>
          </a:p>
          <a:p>
            <a:pPr lvl="2"/>
            <a:r>
              <a:rPr lang="en-US" sz="1600"/>
              <a:t>Can they integrate?</a:t>
            </a:r>
          </a:p>
          <a:p>
            <a:r>
              <a:rPr lang="en-US" sz="2400"/>
              <a:t>Will the supply chain tool provide forward looking prices/costs to Sanjel?</a:t>
            </a:r>
          </a:p>
          <a:p>
            <a:endParaRPr lang="en-US"/>
          </a:p>
          <a:p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71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4BFD-4FC6-9CF6-0D79-FCF3A21C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86232" y="1690688"/>
            <a:ext cx="4572000" cy="4486275"/>
          </a:xfrm>
        </p:spPr>
        <p:txBody>
          <a:bodyPr>
            <a:normAutofit/>
          </a:bodyPr>
          <a:lstStyle/>
          <a:p>
            <a:r>
              <a:rPr lang="en-US"/>
              <a:t>Well Diagram from CEMPRO</a:t>
            </a:r>
          </a:p>
          <a:p>
            <a:r>
              <a:rPr lang="en-US"/>
              <a:t>Ability to move image to job design</a:t>
            </a:r>
          </a:p>
          <a:p>
            <a:pPr lvl="1"/>
            <a:r>
              <a:rPr lang="en-US"/>
              <a:t>Or create new diagram from CEMPRO data</a:t>
            </a:r>
          </a:p>
          <a:p>
            <a:r>
              <a:rPr lang="en-US"/>
              <a:t>How to recreate if things change?</a:t>
            </a:r>
          </a:p>
          <a:p>
            <a:pPr lvl="1"/>
            <a:r>
              <a:rPr lang="en-US"/>
              <a:t>Save planned vs actual?</a:t>
            </a:r>
          </a:p>
          <a:p>
            <a:pPr lvl="1"/>
            <a:r>
              <a:rPr lang="en-US"/>
              <a:t>Show differences?</a:t>
            </a:r>
          </a:p>
          <a:p>
            <a:pPr lvl="1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7BD0B6-0A53-A892-E5E2-E78453652A62}"/>
              </a:ext>
            </a:extLst>
          </p:cNvPr>
          <p:cNvSpPr/>
          <p:nvPr/>
        </p:nvSpPr>
        <p:spPr>
          <a:xfrm>
            <a:off x="838201" y="2766218"/>
            <a:ext cx="1775908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Well Diagram Builder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2D4700B-D633-F018-A7B1-DB3004151416}"/>
              </a:ext>
            </a:extLst>
          </p:cNvPr>
          <p:cNvSpPr txBox="1">
            <a:spLocks/>
          </p:cNvSpPr>
          <p:nvPr/>
        </p:nvSpPr>
        <p:spPr>
          <a:xfrm>
            <a:off x="7429501" y="1690687"/>
            <a:ext cx="4572000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Ability to save the image to the file</a:t>
            </a:r>
          </a:p>
          <a:p>
            <a:pPr lvl="1"/>
            <a:r>
              <a:rPr lang="en-US"/>
              <a:t>Reuse on another design?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15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Phase 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DF4BFD-4FC6-9CF6-0D79-FCF3A21C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86231" y="1690688"/>
            <a:ext cx="4356848" cy="4486275"/>
          </a:xfrm>
        </p:spPr>
        <p:txBody>
          <a:bodyPr>
            <a:normAutofit/>
          </a:bodyPr>
          <a:lstStyle/>
          <a:p>
            <a:r>
              <a:rPr lang="en-US"/>
              <a:t>Ability to create lab request</a:t>
            </a:r>
          </a:p>
          <a:p>
            <a:pPr lvl="1"/>
            <a:r>
              <a:rPr lang="en-US"/>
              <a:t>Current request form covers all proper information</a:t>
            </a:r>
          </a:p>
          <a:p>
            <a:pPr lvl="1"/>
            <a:r>
              <a:rPr lang="en-US"/>
              <a:t>Need pilot test capabilities (on demand test request)</a:t>
            </a:r>
          </a:p>
          <a:p>
            <a:pPr lvl="1"/>
            <a:r>
              <a:rPr lang="en-US"/>
              <a:t>Need ability to add test request for field blend testing</a:t>
            </a:r>
          </a:p>
          <a:p>
            <a:pPr lvl="1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7BD0B6-0A53-A892-E5E2-E78453652A62}"/>
              </a:ext>
            </a:extLst>
          </p:cNvPr>
          <p:cNvSpPr/>
          <p:nvPr/>
        </p:nvSpPr>
        <p:spPr>
          <a:xfrm>
            <a:off x="838201" y="2766218"/>
            <a:ext cx="1765150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Lab Test Request Tool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C203299-B6C0-1DB4-5F17-312E103508D6}"/>
              </a:ext>
            </a:extLst>
          </p:cNvPr>
          <p:cNvSpPr txBox="1">
            <a:spLocks/>
          </p:cNvSpPr>
          <p:nvPr/>
        </p:nvSpPr>
        <p:spPr>
          <a:xfrm>
            <a:off x="7422777" y="1690687"/>
            <a:ext cx="4356848" cy="4486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Use current function</a:t>
            </a:r>
          </a:p>
          <a:p>
            <a:pPr lvl="1"/>
            <a:r>
              <a:rPr lang="en-US"/>
              <a:t>Ability to do on demand</a:t>
            </a:r>
          </a:p>
          <a:p>
            <a:pPr lvl="2"/>
            <a:r>
              <a:rPr lang="en-US"/>
              <a:t>Pilot testing</a:t>
            </a:r>
          </a:p>
          <a:p>
            <a:pPr lvl="1"/>
            <a:r>
              <a:rPr lang="en-US"/>
              <a:t>Ability to automate field blend testing</a:t>
            </a:r>
          </a:p>
          <a:p>
            <a:pPr lvl="2"/>
            <a:r>
              <a:rPr lang="en-US"/>
              <a:t>Field blend testing</a:t>
            </a:r>
          </a:p>
          <a:p>
            <a:pPr lvl="1"/>
            <a:r>
              <a:rPr lang="en-US"/>
              <a:t>Don’t want to import multiple test requests</a:t>
            </a:r>
          </a:p>
          <a:p>
            <a:pPr lvl="2"/>
            <a:r>
              <a:rPr lang="en-US"/>
              <a:t>Do once to cover multiple requirements</a:t>
            </a:r>
          </a:p>
          <a:p>
            <a:pPr lvl="1"/>
            <a:r>
              <a:rPr lang="en-US"/>
              <a:t>Add temperature and pressure ramps? Move from simulation to lab request?</a:t>
            </a:r>
          </a:p>
          <a:p>
            <a:pPr lvl="1"/>
            <a:r>
              <a:rPr lang="en-US"/>
              <a:t>Dealing with Hesitation…. How to do this when outside of the simulation?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80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Linkages?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972CB8-9442-55AF-9694-3DC0B5B59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27468" y="3286327"/>
            <a:ext cx="3937440" cy="2890636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Use XS data from calculated values</a:t>
            </a:r>
          </a:p>
          <a:p>
            <a:r>
              <a:rPr lang="en-US"/>
              <a:t>Calculated per job</a:t>
            </a:r>
          </a:p>
          <a:p>
            <a:r>
              <a:rPr lang="en-US"/>
              <a:t>AER data</a:t>
            </a:r>
          </a:p>
          <a:p>
            <a:pPr lvl="1"/>
            <a:r>
              <a:rPr lang="en-US"/>
              <a:t>Well name</a:t>
            </a:r>
          </a:p>
          <a:p>
            <a:pPr lvl="1"/>
            <a:r>
              <a:rPr lang="en-US"/>
              <a:t>Location</a:t>
            </a:r>
          </a:p>
          <a:p>
            <a:pPr lvl="1"/>
            <a:r>
              <a:rPr lang="en-US"/>
              <a:t>Target formation</a:t>
            </a:r>
          </a:p>
          <a:p>
            <a:pPr lvl="1"/>
            <a:r>
              <a:rPr lang="en-US"/>
              <a:t>Substance</a:t>
            </a:r>
          </a:p>
          <a:p>
            <a:r>
              <a:rPr lang="en-US"/>
              <a:t>Inventory part of engineering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BB7B76-4FC5-4C13-A293-0E4749245416}"/>
              </a:ext>
            </a:extLst>
          </p:cNvPr>
          <p:cNvSpPr/>
          <p:nvPr/>
        </p:nvSpPr>
        <p:spPr>
          <a:xfrm>
            <a:off x="2014557" y="1470989"/>
            <a:ext cx="2309191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Input Tool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258A2F-2089-7172-CF20-4CF20B939789}"/>
              </a:ext>
            </a:extLst>
          </p:cNvPr>
          <p:cNvSpPr/>
          <p:nvPr/>
        </p:nvSpPr>
        <p:spPr>
          <a:xfrm>
            <a:off x="7391757" y="1470989"/>
            <a:ext cx="2309191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Output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905359-D7BD-254A-E0D1-4EBFFFB4233A}"/>
              </a:ext>
            </a:extLst>
          </p:cNvPr>
          <p:cNvSpPr/>
          <p:nvPr/>
        </p:nvSpPr>
        <p:spPr>
          <a:xfrm>
            <a:off x="3856830" y="3297847"/>
            <a:ext cx="4001844" cy="28563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Integration with Engineering Data Sources:</a:t>
            </a:r>
          </a:p>
          <a:p>
            <a:pPr marL="285750" indent="-285750" algn="ctr">
              <a:buFontTx/>
              <a:buChar char="-"/>
            </a:pPr>
            <a:r>
              <a:rPr lang="en-CA"/>
              <a:t>Lab database</a:t>
            </a:r>
          </a:p>
          <a:p>
            <a:pPr marL="285750" indent="-285750" algn="ctr">
              <a:buFontTx/>
              <a:buChar char="-"/>
            </a:pPr>
            <a:r>
              <a:rPr lang="en-CA"/>
              <a:t>Returns and Excess</a:t>
            </a:r>
          </a:p>
          <a:p>
            <a:pPr marL="285750" indent="-285750" algn="ctr">
              <a:buFontTx/>
              <a:buChar char="-"/>
            </a:pPr>
            <a:r>
              <a:rPr lang="en-CA"/>
              <a:t>SCVF</a:t>
            </a:r>
          </a:p>
          <a:p>
            <a:pPr marL="285750" indent="-285750" algn="ctr">
              <a:buFontTx/>
              <a:buChar char="-"/>
            </a:pPr>
            <a:r>
              <a:rPr lang="en-CA"/>
              <a:t>Product Inventory</a:t>
            </a:r>
          </a:p>
          <a:p>
            <a:pPr marL="285750" indent="-285750" algn="ctr">
              <a:buFontTx/>
              <a:buChar char="-"/>
            </a:pPr>
            <a:r>
              <a:rPr lang="en-CA"/>
              <a:t>Frac gradient</a:t>
            </a:r>
          </a:p>
          <a:p>
            <a:pPr algn="ctr"/>
            <a:endParaRPr lang="en-CA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F46AFD0-7DA9-6B68-9E77-7F5FF0CCBA1A}"/>
              </a:ext>
            </a:extLst>
          </p:cNvPr>
          <p:cNvSpPr/>
          <p:nvPr/>
        </p:nvSpPr>
        <p:spPr>
          <a:xfrm>
            <a:off x="4703157" y="1474363"/>
            <a:ext cx="2309191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Process data – integration &amp; calculation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F612F24-9A4E-A15B-EF86-54E880F1AB73}"/>
                  </a:ext>
                </a:extLst>
              </p14:cNvPr>
              <p14:cNvContentPartPr/>
              <p14:nvPr/>
            </p14:nvContentPartPr>
            <p14:xfrm>
              <a:off x="5292508" y="2925932"/>
              <a:ext cx="36720" cy="344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F612F24-9A4E-A15B-EF86-54E880F1AB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83508" y="2916941"/>
                <a:ext cx="54360" cy="362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7FDD5F7-B2ED-A1AB-D95C-A97972BEEA94}"/>
                  </a:ext>
                </a:extLst>
              </p14:cNvPr>
              <p14:cNvContentPartPr/>
              <p14:nvPr/>
            </p14:nvContentPartPr>
            <p14:xfrm>
              <a:off x="5174068" y="2898212"/>
              <a:ext cx="238320" cy="156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7FDD5F7-B2ED-A1AB-D95C-A97972BEEA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5068" y="2889191"/>
                <a:ext cx="255960" cy="174641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81227AB-5498-10DA-5DFF-5A16E02D7E92}"/>
              </a:ext>
            </a:extLst>
          </p:cNvPr>
          <p:cNvGrpSpPr/>
          <p:nvPr/>
        </p:nvGrpSpPr>
        <p:grpSpPr>
          <a:xfrm>
            <a:off x="4367308" y="2086772"/>
            <a:ext cx="317880" cy="142200"/>
            <a:chOff x="4367308" y="2086772"/>
            <a:chExt cx="31788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5B20146-F785-65F2-1EC7-A835D7F3CD4E}"/>
                    </a:ext>
                  </a:extLst>
                </p14:cNvPr>
                <p14:cNvContentPartPr/>
                <p14:nvPr/>
              </p14:nvContentPartPr>
              <p14:xfrm>
                <a:off x="4367308" y="2164172"/>
                <a:ext cx="248760" cy="20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5B20146-F785-65F2-1EC7-A835D7F3CD4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58321" y="2155172"/>
                  <a:ext cx="266375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80EE9B1-D23F-AE62-3DC9-77E5C6329EA7}"/>
                    </a:ext>
                  </a:extLst>
                </p14:cNvPr>
                <p14:cNvContentPartPr/>
                <p14:nvPr/>
              </p14:nvContentPartPr>
              <p14:xfrm>
                <a:off x="4582228" y="2086772"/>
                <a:ext cx="102960" cy="142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80EE9B1-D23F-AE62-3DC9-77E5C6329EA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73228" y="2077772"/>
                  <a:ext cx="12060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0085A1A-C60E-DE4F-9502-F0D53062978E}"/>
              </a:ext>
            </a:extLst>
          </p:cNvPr>
          <p:cNvGrpSpPr/>
          <p:nvPr/>
        </p:nvGrpSpPr>
        <p:grpSpPr>
          <a:xfrm>
            <a:off x="7024108" y="2021972"/>
            <a:ext cx="266760" cy="263880"/>
            <a:chOff x="7024108" y="2021972"/>
            <a:chExt cx="26676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F3A2344-9F15-16F6-E675-076A3E9E2BAE}"/>
                    </a:ext>
                  </a:extLst>
                </p14:cNvPr>
                <p14:cNvContentPartPr/>
                <p14:nvPr/>
              </p14:nvContentPartPr>
              <p14:xfrm>
                <a:off x="7024108" y="2164172"/>
                <a:ext cx="227520" cy="9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F3A2344-9F15-16F6-E675-076A3E9E2B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15108" y="2155172"/>
                  <a:ext cx="245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570D3E7-21F5-884B-5224-810939003FB7}"/>
                    </a:ext>
                  </a:extLst>
                </p14:cNvPr>
                <p14:cNvContentPartPr/>
                <p14:nvPr/>
              </p14:nvContentPartPr>
              <p14:xfrm>
                <a:off x="7196548" y="2021972"/>
                <a:ext cx="94320" cy="263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570D3E7-21F5-884B-5224-810939003FB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87514" y="2012960"/>
                  <a:ext cx="112028" cy="28154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EA8243-A927-76A2-AC49-3EDEA0EC898B}"/>
                  </a:ext>
                </a:extLst>
              </p14:cNvPr>
              <p14:cNvContentPartPr/>
              <p14:nvPr/>
            </p14:nvContentPartPr>
            <p14:xfrm>
              <a:off x="-1528052" y="2796628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EA8243-A927-76A2-AC49-3EDEA0EC898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537052" y="27876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4E3B8B8-9CD6-6D36-A0B8-C8FC4EBADC01}"/>
                  </a:ext>
                </a:extLst>
              </p14:cNvPr>
              <p14:cNvContentPartPr/>
              <p14:nvPr/>
            </p14:nvContentPartPr>
            <p14:xfrm>
              <a:off x="-510404" y="6900783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4E3B8B8-9CD6-6D36-A0B8-C8FC4EBADC0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519404" y="689178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0F40BBE-989B-D3D8-D432-A2707F1815EA}"/>
                  </a:ext>
                </a:extLst>
              </p14:cNvPr>
              <p14:cNvContentPartPr/>
              <p14:nvPr/>
            </p14:nvContentPartPr>
            <p14:xfrm>
              <a:off x="-471884" y="6169263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0F40BBE-989B-D3D8-D432-A2707F1815E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480884" y="61602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1036F8E-39E7-0964-1580-343CFE1CFA28}"/>
                  </a:ext>
                </a:extLst>
              </p14:cNvPr>
              <p14:cNvContentPartPr/>
              <p14:nvPr/>
            </p14:nvContentPartPr>
            <p14:xfrm>
              <a:off x="-462524" y="5630703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1036F8E-39E7-0964-1580-343CFE1CFA2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471524" y="56217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BF97CF2-4A38-D3FD-FCFB-8F3DF0542E50}"/>
                  </a:ext>
                </a:extLst>
              </p14:cNvPr>
              <p14:cNvContentPartPr/>
              <p14:nvPr/>
            </p14:nvContentPartPr>
            <p14:xfrm>
              <a:off x="596596" y="5697663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BF97CF2-4A38-D3FD-FCFB-8F3DF0542E5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7596" y="56886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3B4B748-D544-5688-7CE6-BFA7BBC58BCA}"/>
                  </a:ext>
                </a:extLst>
              </p14:cNvPr>
              <p14:cNvContentPartPr/>
              <p14:nvPr/>
            </p14:nvContentPartPr>
            <p14:xfrm>
              <a:off x="-250484" y="5938143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3B4B748-D544-5688-7CE6-BFA7BBC58BC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259484" y="59291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C14E677-6310-00BA-DB35-76ACF20A5489}"/>
                  </a:ext>
                </a:extLst>
              </p14:cNvPr>
              <p14:cNvContentPartPr/>
              <p14:nvPr/>
            </p14:nvContentPartPr>
            <p14:xfrm>
              <a:off x="-1963724" y="3426423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C14E677-6310-00BA-DB35-76ACF20A548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972724" y="341742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4426FB3-BE2B-DED7-6796-5967702C54BE}"/>
              </a:ext>
            </a:extLst>
          </p:cNvPr>
          <p:cNvSpPr txBox="1">
            <a:spLocks/>
          </p:cNvSpPr>
          <p:nvPr/>
        </p:nvSpPr>
        <p:spPr>
          <a:xfrm>
            <a:off x="227092" y="3426423"/>
            <a:ext cx="3286129" cy="2890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How to simulate while needing info from the integration points?</a:t>
            </a:r>
          </a:p>
          <a:p>
            <a:r>
              <a:rPr lang="en-US"/>
              <a:t>Starting point?</a:t>
            </a:r>
          </a:p>
        </p:txBody>
      </p:sp>
    </p:spTree>
    <p:extLst>
      <p:ext uri="{BB962C8B-B14F-4D97-AF65-F5344CB8AC3E}">
        <p14:creationId xmlns:p14="http://schemas.microsoft.com/office/powerpoint/2010/main" val="2593499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A374B7-EF4D-710C-7850-B6F104860A48}"/>
              </a:ext>
            </a:extLst>
          </p:cNvPr>
          <p:cNvSpPr/>
          <p:nvPr/>
        </p:nvSpPr>
        <p:spPr>
          <a:xfrm>
            <a:off x="4071957" y="1038923"/>
            <a:ext cx="1399511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Sales Forecast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A7BB43-C4FC-6A68-0440-1105622B61F2}"/>
              </a:ext>
            </a:extLst>
          </p:cNvPr>
          <p:cNvSpPr/>
          <p:nvPr/>
        </p:nvSpPr>
        <p:spPr>
          <a:xfrm>
            <a:off x="4781991" y="2922461"/>
            <a:ext cx="1698819" cy="1013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Program Management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3B1700-4178-EA22-4D46-907F5DF31FF9}"/>
              </a:ext>
            </a:extLst>
          </p:cNvPr>
          <p:cNvSpPr/>
          <p:nvPr/>
        </p:nvSpPr>
        <p:spPr>
          <a:xfrm>
            <a:off x="6043132" y="1038923"/>
            <a:ext cx="1399511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Ops Forecast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B28751-B24E-54EA-1EF8-DFA162D05D95}"/>
                  </a:ext>
                </a:extLst>
              </p14:cNvPr>
              <p14:cNvContentPartPr/>
              <p14:nvPr/>
            </p14:nvContentPartPr>
            <p14:xfrm>
              <a:off x="4938401" y="2394845"/>
              <a:ext cx="284400" cy="302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B28751-B24E-54EA-1EF8-DFA162D05D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29412" y="2385845"/>
                <a:ext cx="302018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B364C8A-0B61-CA43-E88F-ABBD5E9F4DC0}"/>
                  </a:ext>
                </a:extLst>
              </p14:cNvPr>
              <p14:cNvContentPartPr/>
              <p14:nvPr/>
            </p14:nvContentPartPr>
            <p14:xfrm>
              <a:off x="5073041" y="2626325"/>
              <a:ext cx="250560" cy="152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B364C8A-0B61-CA43-E88F-ABBD5E9F4D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4054" y="2617325"/>
                <a:ext cx="268175" cy="1699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EEE539-D3C1-3D13-A15E-08C1C98B8109}"/>
              </a:ext>
            </a:extLst>
          </p:cNvPr>
          <p:cNvSpPr/>
          <p:nvPr/>
        </p:nvSpPr>
        <p:spPr>
          <a:xfrm>
            <a:off x="5631400" y="4806000"/>
            <a:ext cx="1698819" cy="1013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Job Design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94550C1-789A-89A5-994C-CCF0F592C652}"/>
                  </a:ext>
                </a:extLst>
              </p14:cNvPr>
              <p14:cNvContentPartPr/>
              <p14:nvPr/>
            </p14:nvContentPartPr>
            <p14:xfrm>
              <a:off x="4873608" y="2337336"/>
              <a:ext cx="164520" cy="195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94550C1-789A-89A5-994C-CCF0F592C6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64608" y="2328696"/>
                <a:ext cx="1821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5238EBD-E6F3-3BAE-F6F7-1CC78A350E6C}"/>
                  </a:ext>
                </a:extLst>
              </p14:cNvPr>
              <p14:cNvContentPartPr/>
              <p14:nvPr/>
            </p14:nvContentPartPr>
            <p14:xfrm>
              <a:off x="5593608" y="3977496"/>
              <a:ext cx="12240" cy="279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5238EBD-E6F3-3BAE-F6F7-1CC78A350E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84608" y="3968496"/>
                <a:ext cx="29880" cy="297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9BBA77-2E42-680D-BA8E-93199C775603}"/>
              </a:ext>
            </a:extLst>
          </p:cNvPr>
          <p:cNvSpPr/>
          <p:nvPr/>
        </p:nvSpPr>
        <p:spPr>
          <a:xfrm>
            <a:off x="8163166" y="4805999"/>
            <a:ext cx="1698819" cy="1013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eProgram</a:t>
            </a:r>
            <a:endParaRPr lang="en-CA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F3FC97-A6B0-94ED-89B1-7606DEADE0B2}"/>
              </a:ext>
            </a:extLst>
          </p:cNvPr>
          <p:cNvSpPr/>
          <p:nvPr/>
        </p:nvSpPr>
        <p:spPr>
          <a:xfrm>
            <a:off x="3083172" y="4805999"/>
            <a:ext cx="1698819" cy="1013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Simulation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AE35B5-2111-2287-AF0F-48300829A30E}"/>
              </a:ext>
            </a:extLst>
          </p:cNvPr>
          <p:cNvGrpSpPr/>
          <p:nvPr/>
        </p:nvGrpSpPr>
        <p:grpSpPr>
          <a:xfrm>
            <a:off x="7360848" y="5129496"/>
            <a:ext cx="889920" cy="322920"/>
            <a:chOff x="7360848" y="5129496"/>
            <a:chExt cx="88992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BC1E73-D64D-8447-4F85-7001F5F18317}"/>
                    </a:ext>
                  </a:extLst>
                </p14:cNvPr>
                <p14:cNvContentPartPr/>
                <p14:nvPr/>
              </p14:nvContentPartPr>
              <p14:xfrm>
                <a:off x="7360848" y="5274936"/>
                <a:ext cx="856440" cy="19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BC1E73-D64D-8447-4F85-7001F5F183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51848" y="5266296"/>
                  <a:ext cx="874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6AA3BE-4083-70DD-B7CE-8D7D91B9BF96}"/>
                    </a:ext>
                  </a:extLst>
                </p14:cNvPr>
                <p14:cNvContentPartPr/>
                <p14:nvPr/>
              </p14:nvContentPartPr>
              <p14:xfrm>
                <a:off x="8000928" y="5129496"/>
                <a:ext cx="249840" cy="32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6AA3BE-4083-70DD-B7CE-8D7D91B9BF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91928" y="5120856"/>
                  <a:ext cx="26748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468A158-7CBA-FA0D-51E8-02D676366CE6}"/>
              </a:ext>
            </a:extLst>
          </p:cNvPr>
          <p:cNvGrpSpPr/>
          <p:nvPr/>
        </p:nvGrpSpPr>
        <p:grpSpPr>
          <a:xfrm>
            <a:off x="4764168" y="5266656"/>
            <a:ext cx="890640" cy="279360"/>
            <a:chOff x="4764168" y="5266656"/>
            <a:chExt cx="89064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9B96A2F-1DF8-57CB-211B-D09D93487F51}"/>
                    </a:ext>
                  </a:extLst>
                </p14:cNvPr>
                <p14:cNvContentPartPr/>
                <p14:nvPr/>
              </p14:nvContentPartPr>
              <p14:xfrm>
                <a:off x="4764168" y="5312376"/>
                <a:ext cx="776880" cy="46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9B96A2F-1DF8-57CB-211B-D09D93487F5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55168" y="5303736"/>
                  <a:ext cx="7945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1B739C-9A63-5EB6-79D7-17B4279FA02F}"/>
                    </a:ext>
                  </a:extLst>
                </p14:cNvPr>
                <p14:cNvContentPartPr/>
                <p14:nvPr/>
              </p14:nvContentPartPr>
              <p14:xfrm>
                <a:off x="5449608" y="5266656"/>
                <a:ext cx="205200" cy="279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1B739C-9A63-5EB6-79D7-17B4279FA02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40968" y="5258016"/>
                  <a:ext cx="222840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0F92294-8046-FF2A-81D4-C724CBA3B66E}"/>
                  </a:ext>
                </a:extLst>
              </p14:cNvPr>
              <p14:cNvContentPartPr/>
              <p14:nvPr/>
            </p14:nvContentPartPr>
            <p14:xfrm>
              <a:off x="5586408" y="4004856"/>
              <a:ext cx="19440" cy="255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0F92294-8046-FF2A-81D4-C724CBA3B66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77768" y="3996216"/>
                <a:ext cx="370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8323C25-4366-B1DF-5DB0-26C882AD0F6C}"/>
                  </a:ext>
                </a:extLst>
              </p14:cNvPr>
              <p14:cNvContentPartPr/>
              <p14:nvPr/>
            </p14:nvContentPartPr>
            <p14:xfrm>
              <a:off x="5513688" y="3957696"/>
              <a:ext cx="295200" cy="120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8323C25-4366-B1DF-5DB0-26C882AD0F6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04688" y="3948696"/>
                <a:ext cx="31284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7677C6D8-5411-5F1C-30DC-2EF24224B910}"/>
              </a:ext>
            </a:extLst>
          </p:cNvPr>
          <p:cNvGrpSpPr/>
          <p:nvPr/>
        </p:nvGrpSpPr>
        <p:grpSpPr>
          <a:xfrm>
            <a:off x="5550408" y="2389176"/>
            <a:ext cx="3739680" cy="2311200"/>
            <a:chOff x="5550408" y="2389176"/>
            <a:chExt cx="3739680" cy="231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72B700D-EA84-4FC6-7A06-5CCFA2EC060E}"/>
                    </a:ext>
                  </a:extLst>
                </p14:cNvPr>
                <p14:cNvContentPartPr/>
                <p14:nvPr/>
              </p14:nvContentPartPr>
              <p14:xfrm>
                <a:off x="5550408" y="4233456"/>
                <a:ext cx="3368520" cy="46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72B700D-EA84-4FC6-7A06-5CCFA2EC06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41408" y="4224456"/>
                  <a:ext cx="33861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632A33-085A-C0B1-13EA-0A46964D3957}"/>
                    </a:ext>
                  </a:extLst>
                </p14:cNvPr>
                <p14:cNvContentPartPr/>
                <p14:nvPr/>
              </p14:nvContentPartPr>
              <p14:xfrm>
                <a:off x="8905968" y="4582656"/>
                <a:ext cx="128880" cy="117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632A33-085A-C0B1-13EA-0A46964D39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97328" y="4574016"/>
                  <a:ext cx="146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CB5C60-CC8E-B6A0-1F90-D24F78A1FC3F}"/>
                    </a:ext>
                  </a:extLst>
                </p14:cNvPr>
                <p14:cNvContentPartPr/>
                <p14:nvPr/>
              </p14:nvContentPartPr>
              <p14:xfrm>
                <a:off x="7133688" y="2389176"/>
                <a:ext cx="2156400" cy="2174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CB5C60-CC8E-B6A0-1F90-D24F78A1FC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25048" y="2380536"/>
                  <a:ext cx="2174040" cy="219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25C762F-A388-FBD5-382D-61D61F1EFBC4}"/>
                  </a:ext>
                </a:extLst>
              </p14:cNvPr>
              <p14:cNvContentPartPr/>
              <p14:nvPr/>
            </p14:nvContentPartPr>
            <p14:xfrm>
              <a:off x="7004088" y="2330496"/>
              <a:ext cx="387000" cy="239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25C762F-A388-FBD5-382D-61D61F1EFBC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95088" y="2321856"/>
                <a:ext cx="404640" cy="25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41082FC-873F-B321-C7FB-E26A8E0A0150}"/>
              </a:ext>
            </a:extLst>
          </p:cNvPr>
          <p:cNvGrpSpPr/>
          <p:nvPr/>
        </p:nvGrpSpPr>
        <p:grpSpPr>
          <a:xfrm>
            <a:off x="4633488" y="3995856"/>
            <a:ext cx="158040" cy="283680"/>
            <a:chOff x="4633488" y="3995856"/>
            <a:chExt cx="15804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AE99B48-E50A-A9CA-088D-C87DE43FF74E}"/>
                    </a:ext>
                  </a:extLst>
                </p14:cNvPr>
                <p14:cNvContentPartPr/>
                <p14:nvPr/>
              </p14:nvContentPartPr>
              <p14:xfrm>
                <a:off x="4732848" y="3995856"/>
                <a:ext cx="58680" cy="123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AE99B48-E50A-A9CA-088D-C87DE43FF7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23848" y="3986856"/>
                  <a:ext cx="76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7E7E4B-B106-1B79-F0D7-0FB6EC589B52}"/>
                    </a:ext>
                  </a:extLst>
                </p14:cNvPr>
                <p14:cNvContentPartPr/>
                <p14:nvPr/>
              </p14:nvContentPartPr>
              <p14:xfrm>
                <a:off x="4633488" y="4187736"/>
                <a:ext cx="75960" cy="91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7E7E4B-B106-1B79-F0D7-0FB6EC589B5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24488" y="4179096"/>
                  <a:ext cx="936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A4C32A-BCD3-D146-FD77-DB02BCD916BB}"/>
              </a:ext>
            </a:extLst>
          </p:cNvPr>
          <p:cNvGrpSpPr/>
          <p:nvPr/>
        </p:nvGrpSpPr>
        <p:grpSpPr>
          <a:xfrm>
            <a:off x="4233528" y="4434696"/>
            <a:ext cx="356760" cy="288360"/>
            <a:chOff x="4233528" y="4434696"/>
            <a:chExt cx="35676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59A9DAF-16A2-E539-2E8A-E507437ACFA6}"/>
                    </a:ext>
                  </a:extLst>
                </p14:cNvPr>
                <p14:cNvContentPartPr/>
                <p14:nvPr/>
              </p14:nvContentPartPr>
              <p14:xfrm>
                <a:off x="4493088" y="4434696"/>
                <a:ext cx="97200" cy="94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59A9DAF-16A2-E539-2E8A-E507437ACFA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84448" y="4425696"/>
                  <a:ext cx="114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D4FF70E-A469-1CB2-E4E9-8AFB5B3E1C2E}"/>
                    </a:ext>
                  </a:extLst>
                </p14:cNvPr>
                <p14:cNvContentPartPr/>
                <p14:nvPr/>
              </p14:nvContentPartPr>
              <p14:xfrm>
                <a:off x="4311648" y="4644936"/>
                <a:ext cx="96120" cy="78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D4FF70E-A469-1CB2-E4E9-8AFB5B3E1C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03008" y="4636296"/>
                  <a:ext cx="113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392F24-DBAC-DAED-0CC0-2614E4B3BD20}"/>
                    </a:ext>
                  </a:extLst>
                </p14:cNvPr>
                <p14:cNvContentPartPr/>
                <p14:nvPr/>
              </p14:nvContentPartPr>
              <p14:xfrm>
                <a:off x="4233528" y="4582296"/>
                <a:ext cx="73800" cy="136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392F24-DBAC-DAED-0CC0-2614E4B3BD2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24528" y="4573656"/>
                  <a:ext cx="91440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22E7542-EBE9-91DB-2B8B-D762656C5F79}"/>
                  </a:ext>
                </a:extLst>
              </p14:cNvPr>
              <p14:cNvContentPartPr/>
              <p14:nvPr/>
            </p14:nvContentPartPr>
            <p14:xfrm>
              <a:off x="4333968" y="4736376"/>
              <a:ext cx="14580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22E7542-EBE9-91DB-2B8B-D762656C5F7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25328" y="4727376"/>
                <a:ext cx="1634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0188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0092"/>
          </a:xfrm>
        </p:spPr>
        <p:txBody>
          <a:bodyPr/>
          <a:lstStyle/>
          <a:p>
            <a:r>
              <a:rPr lang="en-CA" dirty="0"/>
              <a:t>Job Design Tool – Linkages?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BB7B76-4FC5-4C13-A293-0E4749245416}"/>
              </a:ext>
            </a:extLst>
          </p:cNvPr>
          <p:cNvSpPr/>
          <p:nvPr/>
        </p:nvSpPr>
        <p:spPr>
          <a:xfrm>
            <a:off x="541335" y="1906455"/>
            <a:ext cx="1399511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Sales Forecast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905359-D7BD-254A-E0D1-4EBFFFB4233A}"/>
              </a:ext>
            </a:extLst>
          </p:cNvPr>
          <p:cNvSpPr/>
          <p:nvPr/>
        </p:nvSpPr>
        <p:spPr>
          <a:xfrm>
            <a:off x="320511" y="3764427"/>
            <a:ext cx="1780146" cy="1038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Management / eProgram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F46AFD0-7DA9-6B68-9E77-7F5FF0CCBA1A}"/>
              </a:ext>
            </a:extLst>
          </p:cNvPr>
          <p:cNvSpPr/>
          <p:nvPr/>
        </p:nvSpPr>
        <p:spPr>
          <a:xfrm>
            <a:off x="2732684" y="1915934"/>
            <a:ext cx="1463934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Ops Forecast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1227AB-5498-10DA-5DFF-5A16E02D7E92}"/>
              </a:ext>
            </a:extLst>
          </p:cNvPr>
          <p:cNvGrpSpPr/>
          <p:nvPr/>
        </p:nvGrpSpPr>
        <p:grpSpPr>
          <a:xfrm>
            <a:off x="2182376" y="2452532"/>
            <a:ext cx="317880" cy="142200"/>
            <a:chOff x="4367308" y="2086772"/>
            <a:chExt cx="31788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5B20146-F785-65F2-1EC7-A835D7F3CD4E}"/>
                    </a:ext>
                  </a:extLst>
                </p14:cNvPr>
                <p14:cNvContentPartPr/>
                <p14:nvPr/>
              </p14:nvContentPartPr>
              <p14:xfrm>
                <a:off x="4367308" y="2164172"/>
                <a:ext cx="248760" cy="20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5B20146-F785-65F2-1EC7-A835D7F3CD4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58321" y="2155172"/>
                  <a:ext cx="266375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80EE9B1-D23F-AE62-3DC9-77E5C6329EA7}"/>
                    </a:ext>
                  </a:extLst>
                </p14:cNvPr>
                <p14:cNvContentPartPr/>
                <p14:nvPr/>
              </p14:nvContentPartPr>
              <p14:xfrm>
                <a:off x="4582228" y="2086772"/>
                <a:ext cx="102960" cy="142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80EE9B1-D23F-AE62-3DC9-77E5C6329EA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73228" y="2077772"/>
                  <a:ext cx="12060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EA8243-A927-76A2-AC49-3EDEA0EC898B}"/>
                  </a:ext>
                </a:extLst>
              </p14:cNvPr>
              <p14:cNvContentPartPr/>
              <p14:nvPr/>
            </p14:nvContentPartPr>
            <p14:xfrm>
              <a:off x="-1528052" y="2796628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EA8243-A927-76A2-AC49-3EDEA0EC89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537052" y="27876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4E3B8B8-9CD6-6D36-A0B8-C8FC4EBADC01}"/>
                  </a:ext>
                </a:extLst>
              </p14:cNvPr>
              <p14:cNvContentPartPr/>
              <p14:nvPr/>
            </p14:nvContentPartPr>
            <p14:xfrm>
              <a:off x="-510404" y="6900783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4E3B8B8-9CD6-6D36-A0B8-C8FC4EBADC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19404" y="689178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0F40BBE-989B-D3D8-D432-A2707F1815EA}"/>
                  </a:ext>
                </a:extLst>
              </p14:cNvPr>
              <p14:cNvContentPartPr/>
              <p14:nvPr/>
            </p14:nvContentPartPr>
            <p14:xfrm>
              <a:off x="-471884" y="6169263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0F40BBE-989B-D3D8-D432-A2707F1815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480884" y="61602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1036F8E-39E7-0964-1580-343CFE1CFA28}"/>
                  </a:ext>
                </a:extLst>
              </p14:cNvPr>
              <p14:cNvContentPartPr/>
              <p14:nvPr/>
            </p14:nvContentPartPr>
            <p14:xfrm>
              <a:off x="-462524" y="5630703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1036F8E-39E7-0964-1580-343CFE1CFA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471524" y="56217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BF97CF2-4A38-D3FD-FCFB-8F3DF0542E50}"/>
                  </a:ext>
                </a:extLst>
              </p14:cNvPr>
              <p14:cNvContentPartPr/>
              <p14:nvPr/>
            </p14:nvContentPartPr>
            <p14:xfrm>
              <a:off x="596596" y="5697663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BF97CF2-4A38-D3FD-FCFB-8F3DF0542E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7596" y="56886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3B4B748-D544-5688-7CE6-BFA7BBC58BCA}"/>
                  </a:ext>
                </a:extLst>
              </p14:cNvPr>
              <p14:cNvContentPartPr/>
              <p14:nvPr/>
            </p14:nvContentPartPr>
            <p14:xfrm>
              <a:off x="-250484" y="5938143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3B4B748-D544-5688-7CE6-BFA7BBC58B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259484" y="59291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C14E677-6310-00BA-DB35-76ACF20A5489}"/>
                  </a:ext>
                </a:extLst>
              </p14:cNvPr>
              <p14:cNvContentPartPr/>
              <p14:nvPr/>
            </p14:nvContentPartPr>
            <p14:xfrm>
              <a:off x="-1963724" y="3426423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C14E677-6310-00BA-DB35-76ACF20A548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972724" y="34174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1797CD-5F09-9781-2C2F-0CDE6D1B3803}"/>
                  </a:ext>
                </a:extLst>
              </p14:cNvPr>
              <p14:cNvContentPartPr/>
              <p14:nvPr/>
            </p14:nvContentPartPr>
            <p14:xfrm>
              <a:off x="-462183" y="3955737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1797CD-5F09-9781-2C2F-0CDE6D1B380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471183" y="394673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F15456-D4F0-D9EB-C51D-6C990F00CE63}"/>
                  </a:ext>
                </a:extLst>
              </p14:cNvPr>
              <p14:cNvContentPartPr/>
              <p14:nvPr/>
            </p14:nvContentPartPr>
            <p14:xfrm>
              <a:off x="1308771" y="3310617"/>
              <a:ext cx="86760" cy="35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F15456-D4F0-D9EB-C51D-6C990F00CE6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99771" y="3301608"/>
                <a:ext cx="104400" cy="374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5BE1EF3-7736-6825-7D0D-808AD0586296}"/>
                  </a:ext>
                </a:extLst>
              </p14:cNvPr>
              <p14:cNvContentPartPr/>
              <p14:nvPr/>
            </p14:nvContentPartPr>
            <p14:xfrm>
              <a:off x="1241091" y="3258057"/>
              <a:ext cx="284400" cy="139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5BE1EF3-7736-6825-7D0D-808AD05862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32091" y="3249034"/>
                <a:ext cx="302040" cy="157366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1A87F5-89FC-FC21-AE77-DB9A9626E699}"/>
              </a:ext>
            </a:extLst>
          </p:cNvPr>
          <p:cNvSpPr/>
          <p:nvPr/>
        </p:nvSpPr>
        <p:spPr>
          <a:xfrm>
            <a:off x="8296485" y="1906455"/>
            <a:ext cx="1399511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Sales Forecast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00BD21-BF3C-74DD-9A87-9323DD447299}"/>
              </a:ext>
            </a:extLst>
          </p:cNvPr>
          <p:cNvSpPr/>
          <p:nvPr/>
        </p:nvSpPr>
        <p:spPr>
          <a:xfrm>
            <a:off x="9006519" y="3789993"/>
            <a:ext cx="1698819" cy="1013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Management / eProgram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825B66-7E92-2A2F-6B46-64C8EA1083FE}"/>
              </a:ext>
            </a:extLst>
          </p:cNvPr>
          <p:cNvSpPr/>
          <p:nvPr/>
        </p:nvSpPr>
        <p:spPr>
          <a:xfrm>
            <a:off x="10267660" y="1906455"/>
            <a:ext cx="1399511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Ops Forecast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A8696D6-0EBA-9EAC-72BC-9F2FC7210B5D}"/>
                  </a:ext>
                </a:extLst>
              </p14:cNvPr>
              <p14:cNvContentPartPr/>
              <p14:nvPr/>
            </p14:nvContentPartPr>
            <p14:xfrm>
              <a:off x="-741543" y="4311777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A8696D6-0EBA-9EAC-72BC-9F2FC7210B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750543" y="430277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47826F0-4C39-AA63-BA0E-215717DA8573}"/>
                  </a:ext>
                </a:extLst>
              </p14:cNvPr>
              <p14:cNvContentPartPr/>
              <p14:nvPr/>
            </p14:nvContentPartPr>
            <p14:xfrm>
              <a:off x="9162929" y="3262377"/>
              <a:ext cx="284400" cy="302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47826F0-4C39-AA63-BA0E-215717DA857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153940" y="3253377"/>
                <a:ext cx="302018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FF96535-1757-4EAB-F65F-C73D9C8AC2E3}"/>
                  </a:ext>
                </a:extLst>
              </p14:cNvPr>
              <p14:cNvContentPartPr/>
              <p14:nvPr/>
            </p14:nvContentPartPr>
            <p14:xfrm>
              <a:off x="9297569" y="3493857"/>
              <a:ext cx="250560" cy="1522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FF96535-1757-4EAB-F65F-C73D9C8AC2E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288582" y="3484857"/>
                <a:ext cx="268175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6E5A3A1-35CD-5AD9-9B99-0C91A684A9E9}"/>
              </a:ext>
            </a:extLst>
          </p:cNvPr>
          <p:cNvGrpSpPr/>
          <p:nvPr/>
        </p:nvGrpSpPr>
        <p:grpSpPr>
          <a:xfrm>
            <a:off x="10250489" y="3241497"/>
            <a:ext cx="318240" cy="416160"/>
            <a:chOff x="9095457" y="3241497"/>
            <a:chExt cx="31824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9FB5751-37E4-524A-7F5E-BE28847460BD}"/>
                    </a:ext>
                  </a:extLst>
                </p14:cNvPr>
                <p14:cNvContentPartPr/>
                <p14:nvPr/>
              </p14:nvContentPartPr>
              <p14:xfrm>
                <a:off x="9095457" y="3290457"/>
                <a:ext cx="239400" cy="367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9FB5751-37E4-524A-7F5E-BE28847460B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86457" y="3281448"/>
                  <a:ext cx="257040" cy="384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F9CDA5-65FF-28A1-AB9C-3385E2B4AC3D}"/>
                    </a:ext>
                  </a:extLst>
                </p14:cNvPr>
                <p14:cNvContentPartPr/>
                <p14:nvPr/>
              </p14:nvContentPartPr>
              <p14:xfrm>
                <a:off x="9182217" y="3241497"/>
                <a:ext cx="231480" cy="184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F9CDA5-65FF-28A1-AB9C-3385E2B4AC3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73231" y="3232497"/>
                  <a:ext cx="249093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DF6D6E7-D719-29DB-89D4-98F4582E2B2F}"/>
                  </a:ext>
                </a:extLst>
              </p14:cNvPr>
              <p14:cNvContentPartPr/>
              <p14:nvPr/>
            </p14:nvContentPartPr>
            <p14:xfrm>
              <a:off x="5834994" y="2414198"/>
              <a:ext cx="368640" cy="4561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DF6D6E7-D719-29DB-89D4-98F4582E2B2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825994" y="2405205"/>
                <a:ext cx="386280" cy="473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8FCD3D6-1EA7-8922-4E26-B53377F34609}"/>
                  </a:ext>
                </a:extLst>
              </p14:cNvPr>
              <p14:cNvContentPartPr/>
              <p14:nvPr/>
            </p14:nvContentPartPr>
            <p14:xfrm>
              <a:off x="6268434" y="2309438"/>
              <a:ext cx="335520" cy="483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8FCD3D6-1EA7-8922-4E26-B53377F3460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259434" y="2300438"/>
                <a:ext cx="353160" cy="5007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91A2D5-2EBE-9CC2-5F77-72E21204FD19}"/>
              </a:ext>
            </a:extLst>
          </p:cNvPr>
          <p:cNvSpPr/>
          <p:nvPr/>
        </p:nvSpPr>
        <p:spPr>
          <a:xfrm>
            <a:off x="4630567" y="3789993"/>
            <a:ext cx="1399511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Sales Forecast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8E4DD6-7813-34AE-B9B3-EF262E8732D6}"/>
              </a:ext>
            </a:extLst>
          </p:cNvPr>
          <p:cNvSpPr/>
          <p:nvPr/>
        </p:nvSpPr>
        <p:spPr>
          <a:xfrm>
            <a:off x="5340601" y="5673531"/>
            <a:ext cx="1698819" cy="1013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Program Management / </a:t>
            </a:r>
            <a:r>
              <a:rPr lang="en-CA" dirty="0" err="1"/>
              <a:t>eProgram</a:t>
            </a:r>
            <a:endParaRPr lang="en-C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2487A7-4406-B9DD-C055-7AF124D7A745}"/>
              </a:ext>
            </a:extLst>
          </p:cNvPr>
          <p:cNvSpPr/>
          <p:nvPr/>
        </p:nvSpPr>
        <p:spPr>
          <a:xfrm>
            <a:off x="6601742" y="3789993"/>
            <a:ext cx="1399511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Ops Forecast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2420A91-A05D-F621-DE9D-506741561E27}"/>
                  </a:ext>
                </a:extLst>
              </p14:cNvPr>
              <p14:cNvContentPartPr/>
              <p14:nvPr/>
            </p14:nvContentPartPr>
            <p14:xfrm>
              <a:off x="5497011" y="5145915"/>
              <a:ext cx="284400" cy="30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2420A91-A05D-F621-DE9D-506741561E2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488022" y="5136915"/>
                <a:ext cx="302018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B6EA0DF-698E-5BB7-B6DD-0737F694CF5A}"/>
                  </a:ext>
                </a:extLst>
              </p14:cNvPr>
              <p14:cNvContentPartPr/>
              <p14:nvPr/>
            </p14:nvContentPartPr>
            <p14:xfrm>
              <a:off x="5631651" y="5377395"/>
              <a:ext cx="250560" cy="152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B6EA0DF-698E-5BB7-B6DD-0737F694CF5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622664" y="5368395"/>
                <a:ext cx="268175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62CC71F-64BE-4D92-E0E5-963601077A59}"/>
              </a:ext>
            </a:extLst>
          </p:cNvPr>
          <p:cNvGrpSpPr/>
          <p:nvPr/>
        </p:nvGrpSpPr>
        <p:grpSpPr>
          <a:xfrm>
            <a:off x="6584571" y="5125035"/>
            <a:ext cx="318240" cy="416160"/>
            <a:chOff x="9095457" y="3241497"/>
            <a:chExt cx="31824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74FEC71-C13C-2E03-CB4D-1CE8D46561EC}"/>
                    </a:ext>
                  </a:extLst>
                </p14:cNvPr>
                <p14:cNvContentPartPr/>
                <p14:nvPr/>
              </p14:nvContentPartPr>
              <p14:xfrm>
                <a:off x="9095457" y="3290457"/>
                <a:ext cx="239400" cy="367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74FEC71-C13C-2E03-CB4D-1CE8D46561E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86457" y="3281448"/>
                  <a:ext cx="257040" cy="384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110445-6DB3-110A-059D-7C08F0B797A2}"/>
                    </a:ext>
                  </a:extLst>
                </p14:cNvPr>
                <p14:cNvContentPartPr/>
                <p14:nvPr/>
              </p14:nvContentPartPr>
              <p14:xfrm>
                <a:off x="9182217" y="3241497"/>
                <a:ext cx="231480" cy="184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110445-6DB3-110A-059D-7C08F0B797A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73231" y="3232497"/>
                  <a:ext cx="249093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2FB5DFE-76C2-77B5-C613-CB18EC19C545}"/>
              </a:ext>
            </a:extLst>
          </p:cNvPr>
          <p:cNvGrpSpPr/>
          <p:nvPr/>
        </p:nvGrpSpPr>
        <p:grpSpPr>
          <a:xfrm>
            <a:off x="5793897" y="5071737"/>
            <a:ext cx="363240" cy="426600"/>
            <a:chOff x="5793897" y="5071737"/>
            <a:chExt cx="36324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AF97193-D8A6-7A41-B34F-7ADE3F3A8E66}"/>
                    </a:ext>
                  </a:extLst>
                </p14:cNvPr>
                <p14:cNvContentPartPr/>
                <p14:nvPr/>
              </p14:nvContentPartPr>
              <p14:xfrm>
                <a:off x="5823057" y="5072097"/>
                <a:ext cx="334080" cy="426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AF97193-D8A6-7A41-B34F-7ADE3F3A8E6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14067" y="5063097"/>
                  <a:ext cx="351701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9102D1E-436F-C4F3-F65F-9C2F1C89B6E2}"/>
                    </a:ext>
                  </a:extLst>
                </p14:cNvPr>
                <p14:cNvContentPartPr/>
                <p14:nvPr/>
              </p14:nvContentPartPr>
              <p14:xfrm>
                <a:off x="5793897" y="5091177"/>
                <a:ext cx="29520" cy="15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9102D1E-436F-C4F3-F65F-9C2F1C89B6E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84897" y="5082177"/>
                  <a:ext cx="471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F456076-6866-0A45-631A-E2B8CEE58BA3}"/>
                    </a:ext>
                  </a:extLst>
                </p14:cNvPr>
                <p14:cNvContentPartPr/>
                <p14:nvPr/>
              </p14:nvContentPartPr>
              <p14:xfrm>
                <a:off x="5823057" y="5071737"/>
                <a:ext cx="268560" cy="30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F456076-6866-0A45-631A-E2B8CEE58BA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814057" y="5062737"/>
                  <a:ext cx="28620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B42BFC1-1E3F-EC0A-F0F0-182C6D2A3DDD}"/>
                  </a:ext>
                </a:extLst>
              </p14:cNvPr>
              <p14:cNvContentPartPr/>
              <p14:nvPr/>
            </p14:nvContentPartPr>
            <p14:xfrm>
              <a:off x="-558663" y="1270137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B42BFC1-1E3F-EC0A-F0F0-182C6D2A3D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67663" y="126113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7327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65E1-290B-DC79-5E19-D8BD757A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Design Tool – Linkages?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C9F82895-3764-F543-8F73-8FDADE6C18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At program, add sales project # to create linkage</a:t>
            </a:r>
          </a:p>
          <a:p>
            <a:pPr lvl="1"/>
            <a:r>
              <a:rPr lang="en-US"/>
              <a:t>Ability to map multiple programs to 1 SP</a:t>
            </a:r>
          </a:p>
          <a:p>
            <a:pPr lvl="1"/>
            <a:r>
              <a:rPr lang="en-US"/>
              <a:t>How to know order of programs?</a:t>
            </a:r>
          </a:p>
          <a:p>
            <a:pPr lvl="2"/>
            <a:r>
              <a:rPr lang="en-US"/>
              <a:t>Sort in Program Management?</a:t>
            </a:r>
          </a:p>
          <a:p>
            <a:r>
              <a:rPr lang="en-US"/>
              <a:t>If no sales project #, imported program can create sales project – what are the consequences??</a:t>
            </a:r>
          </a:p>
          <a:p>
            <a:r>
              <a:rPr lang="en-US"/>
              <a:t>Will walk Jeremy through the SF – </a:t>
            </a:r>
            <a:r>
              <a:rPr lang="en-US" err="1"/>
              <a:t>OpsF</a:t>
            </a:r>
            <a:r>
              <a:rPr lang="en-US"/>
              <a:t> process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EA8243-A927-76A2-AC49-3EDEA0EC898B}"/>
                  </a:ext>
                </a:extLst>
              </p14:cNvPr>
              <p14:cNvContentPartPr/>
              <p14:nvPr/>
            </p14:nvContentPartPr>
            <p14:xfrm>
              <a:off x="-1528052" y="2796628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EA8243-A927-76A2-AC49-3EDEA0EC89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537052" y="27876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4E3B8B8-9CD6-6D36-A0B8-C8FC4EBADC01}"/>
                  </a:ext>
                </a:extLst>
              </p14:cNvPr>
              <p14:cNvContentPartPr/>
              <p14:nvPr/>
            </p14:nvContentPartPr>
            <p14:xfrm>
              <a:off x="-510404" y="6900783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4E3B8B8-9CD6-6D36-A0B8-C8FC4EBADC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19404" y="689178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0F40BBE-989B-D3D8-D432-A2707F1815EA}"/>
                  </a:ext>
                </a:extLst>
              </p14:cNvPr>
              <p14:cNvContentPartPr/>
              <p14:nvPr/>
            </p14:nvContentPartPr>
            <p14:xfrm>
              <a:off x="-471884" y="6169263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0F40BBE-989B-D3D8-D432-A2707F1815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80884" y="61602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1036F8E-39E7-0964-1580-343CFE1CFA28}"/>
                  </a:ext>
                </a:extLst>
              </p14:cNvPr>
              <p14:cNvContentPartPr/>
              <p14:nvPr/>
            </p14:nvContentPartPr>
            <p14:xfrm>
              <a:off x="-462524" y="5630703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1036F8E-39E7-0964-1580-343CFE1CFA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71524" y="56217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3B4B748-D544-5688-7CE6-BFA7BBC58BCA}"/>
                  </a:ext>
                </a:extLst>
              </p14:cNvPr>
              <p14:cNvContentPartPr/>
              <p14:nvPr/>
            </p14:nvContentPartPr>
            <p14:xfrm>
              <a:off x="-250484" y="5938143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3B4B748-D544-5688-7CE6-BFA7BBC58B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59484" y="59291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C14E677-6310-00BA-DB35-76ACF20A5489}"/>
                  </a:ext>
                </a:extLst>
              </p14:cNvPr>
              <p14:cNvContentPartPr/>
              <p14:nvPr/>
            </p14:nvContentPartPr>
            <p14:xfrm>
              <a:off x="-1963724" y="3426423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C14E677-6310-00BA-DB35-76ACF20A54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972724" y="34174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1797CD-5F09-9781-2C2F-0CDE6D1B3803}"/>
                  </a:ext>
                </a:extLst>
              </p14:cNvPr>
              <p14:cNvContentPartPr/>
              <p14:nvPr/>
            </p14:nvContentPartPr>
            <p14:xfrm>
              <a:off x="-462183" y="3955737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1797CD-5F09-9781-2C2F-0CDE6D1B38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71183" y="394673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1A87F5-89FC-FC21-AE77-DB9A9626E699}"/>
              </a:ext>
            </a:extLst>
          </p:cNvPr>
          <p:cNvSpPr/>
          <p:nvPr/>
        </p:nvSpPr>
        <p:spPr>
          <a:xfrm>
            <a:off x="1751306" y="2358843"/>
            <a:ext cx="1399511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Sales Forecast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00BD21-BF3C-74DD-9A87-9323DD447299}"/>
              </a:ext>
            </a:extLst>
          </p:cNvPr>
          <p:cNvSpPr/>
          <p:nvPr/>
        </p:nvSpPr>
        <p:spPr>
          <a:xfrm>
            <a:off x="2461340" y="4242381"/>
            <a:ext cx="1698819" cy="1013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Program Management / eProgram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825B66-7E92-2A2F-6B46-64C8EA1083FE}"/>
              </a:ext>
            </a:extLst>
          </p:cNvPr>
          <p:cNvSpPr/>
          <p:nvPr/>
        </p:nvSpPr>
        <p:spPr>
          <a:xfrm>
            <a:off x="3722481" y="2358843"/>
            <a:ext cx="1399511" cy="11751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Ops Forecast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A8696D6-0EBA-9EAC-72BC-9F2FC7210B5D}"/>
                  </a:ext>
                </a:extLst>
              </p14:cNvPr>
              <p14:cNvContentPartPr/>
              <p14:nvPr/>
            </p14:nvContentPartPr>
            <p14:xfrm>
              <a:off x="-741543" y="4311777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A8696D6-0EBA-9EAC-72BC-9F2FC7210B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50543" y="430277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47826F0-4C39-AA63-BA0E-215717DA8573}"/>
                  </a:ext>
                </a:extLst>
              </p14:cNvPr>
              <p14:cNvContentPartPr/>
              <p14:nvPr/>
            </p14:nvContentPartPr>
            <p14:xfrm>
              <a:off x="2617750" y="3714765"/>
              <a:ext cx="284400" cy="302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47826F0-4C39-AA63-BA0E-215717DA857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08761" y="3705765"/>
                <a:ext cx="302018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FF96535-1757-4EAB-F65F-C73D9C8AC2E3}"/>
                  </a:ext>
                </a:extLst>
              </p14:cNvPr>
              <p14:cNvContentPartPr/>
              <p14:nvPr/>
            </p14:nvContentPartPr>
            <p14:xfrm>
              <a:off x="2752390" y="3946245"/>
              <a:ext cx="250560" cy="1522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FF96535-1757-4EAB-F65F-C73D9C8AC2E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43403" y="3937245"/>
                <a:ext cx="268175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6E5A3A1-35CD-5AD9-9B99-0C91A684A9E9}"/>
              </a:ext>
            </a:extLst>
          </p:cNvPr>
          <p:cNvGrpSpPr/>
          <p:nvPr/>
        </p:nvGrpSpPr>
        <p:grpSpPr>
          <a:xfrm>
            <a:off x="3705310" y="3693885"/>
            <a:ext cx="318240" cy="416160"/>
            <a:chOff x="9095457" y="3241497"/>
            <a:chExt cx="31824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9FB5751-37E4-524A-7F5E-BE28847460BD}"/>
                    </a:ext>
                  </a:extLst>
                </p14:cNvPr>
                <p14:cNvContentPartPr/>
                <p14:nvPr/>
              </p14:nvContentPartPr>
              <p14:xfrm>
                <a:off x="9095457" y="3290457"/>
                <a:ext cx="239400" cy="367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9FB5751-37E4-524A-7F5E-BE28847460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86457" y="3281448"/>
                  <a:ext cx="257040" cy="384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F9CDA5-65FF-28A1-AB9C-3385E2B4AC3D}"/>
                    </a:ext>
                  </a:extLst>
                </p14:cNvPr>
                <p14:cNvContentPartPr/>
                <p14:nvPr/>
              </p14:nvContentPartPr>
              <p14:xfrm>
                <a:off x="9182217" y="3241497"/>
                <a:ext cx="231480" cy="184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F9CDA5-65FF-28A1-AB9C-3385E2B4AC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73231" y="3232497"/>
                  <a:ext cx="249093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B42BFC1-1E3F-EC0A-F0F0-182C6D2A3DDD}"/>
                  </a:ext>
                </a:extLst>
              </p14:cNvPr>
              <p14:cNvContentPartPr/>
              <p14:nvPr/>
            </p14:nvContentPartPr>
            <p14:xfrm>
              <a:off x="-558663" y="1270137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B42BFC1-1E3F-EC0A-F0F0-182C6D2A3D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67663" y="126113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0257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409ECD82ADC54E8CBF5684A7D8D2B6" ma:contentTypeVersion="24" ma:contentTypeDescription="Create a new document." ma:contentTypeScope="" ma:versionID="4ebdc3ff8b05f27319f842317ba9d8d6">
  <xsd:schema xmlns:xsd="http://www.w3.org/2001/XMLSchema" xmlns:xs="http://www.w3.org/2001/XMLSchema" xmlns:p="http://schemas.microsoft.com/office/2006/metadata/properties" xmlns:ns2="84f88c47-60d9-4085-9293-81bf575d15ab" xmlns:ns3="7d0d7bc9-1853-448b-a1aa-4a72bee359f5" targetNamespace="http://schemas.microsoft.com/office/2006/metadata/properties" ma:root="true" ma:fieldsID="d53fb999956f4c29ed6d7d7be0de2b3d" ns2:_="" ns3:_="">
    <xsd:import namespace="84f88c47-60d9-4085-9293-81bf575d15ab"/>
    <xsd:import namespace="7d0d7bc9-1853-448b-a1aa-4a72bee359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Approved" minOccurs="0"/>
                <xsd:element ref="ns2:MediaServiceLocation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88c47-60d9-4085-9293-81bf575d15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Approved" ma:index="17" nillable="true" ma:displayName="Approved" ma:default="No" ma:internalName="Approved">
      <xsd:simpleType>
        <xsd:restriction base="dms:Text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Flow_SignoffStatus" ma:index="19" nillable="true" ma:displayName="Sign-off status" ma:internalName="Sign_x002d_off_x0020_status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f010a23a-bb52-4e9a-8614-5e3078a5f9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_ApprovalAssignedTo" ma:index="28" nillable="true" ma:displayName="Approver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9" nillable="true" ma:displayName="Response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30" nillable="true" ma:displayName="Approval Creator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1" nillable="true" ma:displayName="Approval status" ma:internalName="_Approval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0d7bc9-1853-448b-a1aa-4a72bee359f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fe08482-6094-4450-a09a-9481fdfee03e}" ma:internalName="TaxCatchAll" ma:showField="CatchAllData" ma:web="7d0d7bc9-1853-448b-a1aa-4a72bee359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4f88c47-60d9-4085-9293-81bf575d15ab">
      <Terms xmlns="http://schemas.microsoft.com/office/infopath/2007/PartnerControls"/>
    </lcf76f155ced4ddcb4097134ff3c332f>
    <TaxCatchAll xmlns="7d0d7bc9-1853-448b-a1aa-4a72bee359f5" xsi:nil="true"/>
    <_Flow_SignoffStatus xmlns="84f88c47-60d9-4085-9293-81bf575d15ab" xsi:nil="true"/>
    <Approved xmlns="84f88c47-60d9-4085-9293-81bf575d15ab">No</Approved>
    <_ApprovalAssignedTo xmlns="84f88c47-60d9-4085-9293-81bf575d15ab">
      <UserInfo>
        <DisplayName/>
        <AccountId xsi:nil="true"/>
        <AccountType/>
      </UserInfo>
    </_ApprovalAssignedTo>
    <_ApprovalSentBy xmlns="84f88c47-60d9-4085-9293-81bf575d15ab">
      <UserInfo>
        <DisplayName/>
        <AccountId xsi:nil="true"/>
        <AccountType/>
      </UserInfo>
    </_ApprovalSentBy>
    <_ApprovalRespondedBy xmlns="84f88c47-60d9-4085-9293-81bf575d15ab">
      <UserInfo>
        <DisplayName/>
        <AccountId xsi:nil="true"/>
        <AccountType/>
      </UserInfo>
    </_ApprovalRespondedBy>
    <_ApprovalStatus xmlns="84f88c47-60d9-4085-9293-81bf575d15ab">0</_ApprovalStatus>
  </documentManagement>
</p:properties>
</file>

<file path=customXml/itemProps1.xml><?xml version="1.0" encoding="utf-8"?>
<ds:datastoreItem xmlns:ds="http://schemas.openxmlformats.org/officeDocument/2006/customXml" ds:itemID="{5260704C-9431-41E1-9DF3-7009BD20B4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7DD45C-1196-47BA-92F0-97E1C79C98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f88c47-60d9-4085-9293-81bf575d15ab"/>
    <ds:schemaRef ds:uri="7d0d7bc9-1853-448b-a1aa-4a72bee359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5F3392-DAEE-4DF2-84B4-F2BB93FE8B15}">
  <ds:schemaRefs>
    <ds:schemaRef ds:uri="http://schemas.microsoft.com/office/2006/metadata/properties"/>
    <ds:schemaRef ds:uri="http://schemas.microsoft.com/office/infopath/2007/PartnerControls"/>
    <ds:schemaRef ds:uri="84f88c47-60d9-4085-9293-81bf575d15ab"/>
    <ds:schemaRef ds:uri="7d0d7bc9-1853-448b-a1aa-4a72bee359f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1706</Words>
  <Application>Microsoft Office PowerPoint</Application>
  <PresentationFormat>Widescreen</PresentationFormat>
  <Paragraphs>357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Job Design Tool – Major Parts</vt:lpstr>
      <vt:lpstr>Job Design Tool – Phase I</vt:lpstr>
      <vt:lpstr>Job Design Tool – Phase I Value</vt:lpstr>
      <vt:lpstr>Job Design Tool – Phase I</vt:lpstr>
      <vt:lpstr>Job Design Tool – Phase I</vt:lpstr>
      <vt:lpstr>Job Design Tool – Phase I</vt:lpstr>
      <vt:lpstr>Job Design Tool – Phase I</vt:lpstr>
      <vt:lpstr>Job Design Tool – Phase I</vt:lpstr>
      <vt:lpstr>Job Design Tool – Phase I</vt:lpstr>
      <vt:lpstr>Job Design Tool – Phase I</vt:lpstr>
      <vt:lpstr>Job Design Tool – Phase I</vt:lpstr>
      <vt:lpstr>Job Design Tool – Phase I</vt:lpstr>
      <vt:lpstr>Job Design Tool – Phase I</vt:lpstr>
      <vt:lpstr>Job Design Tool – Phase I</vt:lpstr>
      <vt:lpstr>Job Design Tool – Phase I</vt:lpstr>
      <vt:lpstr>Job Design Tool – Linkages?</vt:lpstr>
      <vt:lpstr>PowerPoint Presentation</vt:lpstr>
      <vt:lpstr>Job Design Tool – Linkages?</vt:lpstr>
      <vt:lpstr>Job Design Tool – Linkages?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Design Tool – What are the major parts?</dc:title>
  <dc:creator>Jeremy Downs</dc:creator>
  <cp:lastModifiedBy>Adam Wang</cp:lastModifiedBy>
  <cp:revision>3</cp:revision>
  <dcterms:created xsi:type="dcterms:W3CDTF">2024-06-07T19:16:47Z</dcterms:created>
  <dcterms:modified xsi:type="dcterms:W3CDTF">2025-11-09T04:59:48Z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0x0101002E409ECD82ADC54E8CBF5684A7D8D2B6</vt:lpwstr>
  </property>
</Properties>
</file>